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19688517d48a4" /><Relationship Type="http://schemas.openxmlformats.org/officeDocument/2006/relationships/extended-properties" Target="/docProps/app.xml" Id="R6c9a70a980674adb" /><Relationship Type="http://schemas.openxmlformats.org/officeDocument/2006/relationships/officeDocument" Target="/ppt/presentation.xml" Id="Rdc30143a4b7e4b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9396e1c494ad1"/>
  </p:sldMasterIdLst>
  <p:notesMasterIdLst>
    <p:notesMasterId xmlns:r="http://schemas.openxmlformats.org/officeDocument/2006/relationships" r:id="R5a1926ab71b94c95"/>
  </p:notesMasterIdLst>
  <p:sldIdLst>
    <p:sldId xmlns:r="http://schemas.openxmlformats.org/officeDocument/2006/relationships" id="256" r:id="R86a9f39d385444c0"/>
    <p:sldId xmlns:r="http://schemas.openxmlformats.org/officeDocument/2006/relationships" id="257" r:id="R74ed17e4952141c6"/>
    <p:sldId xmlns:r="http://schemas.openxmlformats.org/officeDocument/2006/relationships" id="258" r:id="Rfc99d3fd5892416c"/>
    <p:sldId xmlns:r="http://schemas.openxmlformats.org/officeDocument/2006/relationships" id="259" r:id="Rbed1f30cbb184d8b"/>
    <p:sldId xmlns:r="http://schemas.openxmlformats.org/officeDocument/2006/relationships" id="260" r:id="R086877dad53148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f902d83a4468c" /><Relationship Type="http://schemas.openxmlformats.org/officeDocument/2006/relationships/slideMaster" Target="/ppt/slideMasters/slideMaster1.xml" Id="R4719396e1c494ad1" /><Relationship Type="http://schemas.openxmlformats.org/officeDocument/2006/relationships/notesMaster" Target="/ppt/notesMasters/notesMaster1.xml" Id="R5a1926ab71b94c95" /><Relationship Type="http://schemas.openxmlformats.org/officeDocument/2006/relationships/presProps" Target="/ppt/presProps.xml" Id="Rf3eddd83d44c4a58" /><Relationship Type="http://schemas.openxmlformats.org/officeDocument/2006/relationships/tableStyles" Target="/ppt/tableStyles.xml" Id="R7b943638bdbd4146" /><Relationship Type="http://schemas.openxmlformats.org/officeDocument/2006/relationships/slide" Target="/ppt/slides/slide1.xml" Id="R86a9f39d385444c0" /><Relationship Type="http://schemas.openxmlformats.org/officeDocument/2006/relationships/slide" Target="/ppt/slides/slide2.xml" Id="R74ed17e4952141c6" /><Relationship Type="http://schemas.openxmlformats.org/officeDocument/2006/relationships/slide" Target="/ppt/slides/slide3.xml" Id="Rfc99d3fd5892416c" /><Relationship Type="http://schemas.openxmlformats.org/officeDocument/2006/relationships/slide" Target="/ppt/slides/slide4.xml" Id="Rbed1f30cbb184d8b" /><Relationship Type="http://schemas.openxmlformats.org/officeDocument/2006/relationships/slide" Target="/ppt/slides/slide5.xml" Id="R086877dad53148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c9e9f4a8024d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4d8ee990f240b1" /><Relationship Type="http://schemas.openxmlformats.org/officeDocument/2006/relationships/notesMaster" Target="/ppt/notesMasters/notesMaster1.xml" Id="R6654320289c6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9e915f2964356" /><Relationship Type="http://schemas.openxmlformats.org/officeDocument/2006/relationships/notesMaster" Target="/ppt/notesMasters/notesMaster1.xml" Id="R0745c690a6db45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73b37f7a264229" /><Relationship Type="http://schemas.openxmlformats.org/officeDocument/2006/relationships/notesMaster" Target="/ppt/notesMasters/notesMaster1.xml" Id="R011bbd512cea43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d29c7577a54a67" /><Relationship Type="http://schemas.openxmlformats.org/officeDocument/2006/relationships/notesMaster" Target="/ppt/notesMasters/notesMaster1.xml" Id="R4f5a7542172944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65e7f085d04f0f" /><Relationship Type="http://schemas.openxmlformats.org/officeDocument/2006/relationships/notesMaster" Target="/ppt/notesMasters/notesMaster1.xml" Id="Rb6e53a5040ef4c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AURA compares BTC-USDT and ETH-USDT for one managed risk budget. A bounded Market Critic challenges the selected setup, but only the deterministic Risk Engine can authorize execution. We built the product to make both action and refusal explainable.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OKX Agent Trade Kit supplies market and account evidence. AURA computes deterministic features and compares two liquid spot markets. The LLM is a critic, never a trader. The Risk Certificate has the final veto. Execution uses the separate write lane, and uncertainty is reconciled rather than retried blindly.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substitutes for the live dashboard. Read it left to right: BTC and ETH are compared for one risk budget; a completed cycle would populate provenance. The Market Critic challenges a selected setup. The Risk Certificate can hold execution, and the trace shows which MCP reads contributed and whether the write lane was used. Position and protection remain explicit; Ask AURA and the read-only Status MCP explain why no trade occurred. This is a representative observe-only state, not a historical screenshot or performance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 and WRITE lanes are separate MCP client processes with separate authority. The Market Critic only sees read-side evidence. The deterministic Risk Certificate gates execution. AURA also serves its own read-only status interface for outside observers. Safety rules allow one AURA-managed position, distinguish unrelated inventory, and stop under ambiguous execution or protection state. Current live entry protection remains unverified, so new live BUYs are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AURA combines bounded AI, deterministic trade safety and decision provenance. It is an MCP-native product: not a black-box strategy. The current safety posture is deliberate. New live entries remain blocked until exchange-side protection is verified end to end. The value is not trading more; it is making market decisions that can be examined and challenged.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09365f59042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bf2806a7541b4" /><Relationship Type="http://schemas.openxmlformats.org/officeDocument/2006/relationships/slideLayout" Target="/ppt/slideLayouts/slideLayout1.xml" Id="Rc0c663a7646748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c663a76467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ec8a844784f4e" /><Relationship Type="http://schemas.openxmlformats.org/officeDocument/2006/relationships/notesSlide" Target="/ppt/notesSlides/notesSlide1.xml" Id="R43147d82cf1048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8ce2050064eac" /><Relationship Type="http://schemas.openxmlformats.org/officeDocument/2006/relationships/notesSlide" Target="/ppt/notesSlides/notesSlide2.xml" Id="R8429d06a17c147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32c54d3ad4757" /><Relationship Type="http://schemas.openxmlformats.org/officeDocument/2006/relationships/notesSlide" Target="/ppt/notesSlides/notesSlide3.xml" Id="R251fa8b43cb54c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360bb3c2544d6" /><Relationship Type="http://schemas.openxmlformats.org/officeDocument/2006/relationships/notesSlide" Target="/ppt/notesSlides/notesSlide4.xml" Id="R5e3edec92db542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83430aa8a439a" /><Relationship Type="http://schemas.openxmlformats.org/officeDocument/2006/relationships/notesSlide" Target="/ppt/notesSlides/notesSlide5.xml" Id="R876dda6c83214a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2E580-70D6-43AF-A58C-7EFF67E4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AURA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5571C-08E3-4E5C-84B0-DABBCBDC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800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678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Explainable autonomous</a:t>
            </a:r>
          </a:p>
          <a:p xmlns:a="http://schemas.openxmlformats.org/drawingml/2006/main">
            <a:pPr algn="l">
              <a:defRPr sz="4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trading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13C12-A30C-413D-93F1-3DEF3237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714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One risk budget across BTC-USDT and ETH-USDT.</a:t>
            </a:r>
          </a:p>
          <a:p xmlns:a="http://schemas.openxmlformats.org/drawingml/2006/main">
            <a:pPr algn="l">
              <a:defRPr sz="180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Every action has an evidence trail and a hard risk veto.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A2008-633C-4438-8FF3-A14776E5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DEC52-2712-4BEE-A2F4-12C32844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55196-6ED7-46CA-8D55-1D00E722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4080C-D6B4-486A-81FA-CF31CAB8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625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BTC-USDT  /  ETH-USDT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DAC9E-1AEE-4C38-B930-5195E064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386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01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71F0C-4D1D-4B80-B87B-B6581663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6D1B7-676C-4550-A9C7-D0B783EB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CRITIQUE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40977-2FBA-4447-A112-AAC2EC3B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625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Bounded Market Critic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AB4A3-5385-45A9-ADBB-A46915B0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386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01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03C96-E7B6-4469-A536-207AAC69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3B37E-B101-47C3-A845-C556B788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291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AUTHORIZE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1B03F-BE08-4530-9018-E91CA85A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625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Deterministic Risk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DED92-3B35-497F-B447-545464BC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AI can reason; it cannot directly move capital.</a:t>
            </a:r>
          </a:p>
        </p:txBody>
      </p:sp>
    </p:spTree>
    <p:extLst>
      <p:ext uri="{BB962C8B-B14F-4D97-AF65-F5344CB8AC3E}">
        <p14:creationId xmlns:p14="http://schemas.microsoft.com/office/powerpoint/2010/main" val="1160620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AF2D30-08C5-4172-9A4D-C7DD4C07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02  /  DECISION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1F06F-1B21-4215-9229-922823B6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From market evidence to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053D0-3479-4704-BA4E-A11C7B3B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 single opportunity is considered; each step can stop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6700B-DED5-4E5F-90D7-2726FA82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16072-D853-474F-B426-AEC3D882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AURA  /  OKX AGENT TRADE 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3FFD5-095E-4B8D-AC1A-A7B52E3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2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A9DEF-63FC-4582-934D-D4766DE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08A0E-12F1-4DC3-A46D-B5D17604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4A1FA-47EA-4C8D-A348-288FDA08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OKX ATK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F9170-E47C-4DE0-B649-93CF7FA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Market, account and spot reads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427EB-3AD8-44F6-B6D6-437DEF22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86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F3225-FD76-41E3-9E94-619D74F0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DF962-C25D-4C6D-BF4E-07A599DD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B1BFD-C92C-4C65-BFAF-3A022438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764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FEATURES + REGIME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39001-BCE7-42A0-BED9-B7AFAD04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EMA · ATR · ADX · spread · OBI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76DB2-C44C-40C0-950D-DB897D70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09560-2330-4D6C-BA84-B3C1F93E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03E68-3952-4319-9715-96DAFF61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01E4D-E1FB-4F40-A2D1-AA9B6AE8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764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OPPORTUNITY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0D3C9-43B4-403A-9D61-254589B3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Compare BTC and ETH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217A0-C1DB-48F9-B109-9C4826D2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0F928-1212-4988-9A79-3065BD08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D712B-227B-4517-9974-3CE85602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758D0-E956-4AFE-9FB0-FC2331BD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764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MARKET 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8BD17-49C7-48DA-8589-B0EA715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9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Challenge the selected thesis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6EE0D-B5E5-4739-AF3B-ABBA68EB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9525">
            <a:solidFill>
              <a:srgbClr val="4774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61705-BF98-416B-800C-CADC5419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BA0DD-D89D-46CA-8CCA-3DDB7E52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RISK CERTIFICATE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D9DB9-37A1-4CC1-A1E3-3A84E923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Hard veto and position 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55D361-5E39-466A-9476-C434DB70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100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EFE64C-6B31-492A-B2C7-E1803074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33775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D7B86B-8308-41F5-96BC-432E51C4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704F6-69D8-45E4-9459-25F7DD86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MCP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D41C4F-6C35-4AA8-8E55-2BA150DB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ExecutionEngine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295FC-5B2D-4C08-967E-C0462604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00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2E6698-D11F-4F7C-BCE7-8386F925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33775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C52D04-2BCD-45CF-B7FB-187729A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D2352C-38EF-4DC6-91EC-5ED7CCCC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PROTECTION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E42D15-A208-44CD-A4F1-4CC7B0C6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Verify or fall back safely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0322A1-E030-41F0-93F7-23216039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100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8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AC529D-C942-4D10-872D-9963A8B6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33775"/>
            <a:ext cx="26098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0CB9D2-7D22-42B5-8496-B0F44530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4A175D-A40D-45D9-84A2-222D425A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F4C376-84F3-47E2-9142-BE920E79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Never guess after ambiguity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A3B244-9DB2-4079-9850-B9C6E75F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1010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1F87B2-2A34-46D5-B93A-5E0A868D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LLM critiques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8D0D69-AA69-40DA-A502-459FB1DD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864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Risk Engine vetoes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F87324-F6CB-4A8E-AF77-2546782B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8642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Provenance explains</a:t>
            </a:r>
          </a:p>
        </p:txBody>
      </p:sp>
    </p:spTree>
    <p:extLst>
      <p:ext uri="{BB962C8B-B14F-4D97-AF65-F5344CB8AC3E}">
        <p14:creationId xmlns:p14="http://schemas.microsoft.com/office/powerpoint/2010/main" val="1440136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4A1CE1-570C-42C4-B9DD-35718DA2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03  /  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5BB62-2FD6-416E-BF67-57DAAD3D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AURA Intelligence 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9A62B-9621-4DBD-B219-5222A2F9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 decision you can inspect in one glance · representative observe-only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9D9BA-BA8A-45D9-8257-3B11B30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85900"/>
            <a:ext cx="112966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AF41A-CD9D-4F9C-895B-B6A6AB68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✳  AURA  /  INTELLIGENCE DESK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60D62-C377-4C25-8D41-D85431DE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19250"/>
            <a:ext cx="12668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7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CA56C-9FFF-4A6D-A603-C02785BE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638300"/>
            <a:ext cx="1076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rPr>
              <a:t>OBSERVE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8DDF8-73D8-4DB2-AF3A-426D73CC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19250"/>
            <a:ext cx="10572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7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02309-C40C-4B34-8E3F-33BD9035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86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rPr>
              <a:t>READ 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946A3-94A9-461D-BC33-692B0BAD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619250"/>
            <a:ext cx="14192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7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232FB-9AAD-4B46-AD36-B30D4192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63830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rPr>
              <a:t>STATUS 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2E61F-63C9-480E-880B-CD530E25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10925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422CB-3048-4D6C-A51C-891CCE70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OPPORTUNITY 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D42B6-A6CB-4624-8A18-DABADFF6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683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position maximum · BTC and ETH compared each 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65E29-1C9D-45DD-A2E6-570361F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3371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F3B00-DD26-47D9-89D5-B2C1A37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05100"/>
            <a:ext cx="3371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78194-1E55-4E23-AB81-B608055E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03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BTC-USDT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AA832-CC2B-4D2D-AB4E-54AB7154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28925"/>
            <a:ext cx="9429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B208B-C106-4F5E-99E7-A23CBA57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47975"/>
            <a:ext cx="752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WAITING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CE243-9F8C-49B3-9DAB-FD4C252A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4325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eligible setup published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D31BF-2D41-4B31-9F86-92E4E7C6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003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ETH-USDT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82DCB-A110-48A8-81FA-820A389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28925"/>
            <a:ext cx="9429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62ABD-B925-42AC-B9D8-DDC708C1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47975"/>
            <a:ext cx="752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WAITING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9E043-4F4E-409A-B453-7B1CAF2F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eligible setup published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6A3F9-2323-4BAA-92CF-AE7B3294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6858000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7DE0F1-1493-49CC-8CD7-53BB5ABC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DECISION PROVENANCE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1DFFE-20A8-444A-B0F2-7E0B0A99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45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Market  →  Features  →  Ranking  →  Critic  →  Risk  → 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24C8B3-1153-42AD-B6E4-7B770C76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completed cycle · every stage is recorded once published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72D820-0085-4374-ADBE-414348A4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685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29CF6A-9C98-47FF-B121-B32B3834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ATK MCP 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E77747-A356-4D2D-B490-A1FCD685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   market_get_ticker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78C5CA-6717-434F-A730-1955CF35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   spot_get_fills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216DC-7710-4C98-8C64-BC3178D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8637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37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E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EEDC"/>
                </a:solidFill>
                <a:latin typeface="Helvetica Neue"/>
                <a:ea typeface="Helvetica Neue"/>
                <a:cs typeface="Helvetica Neue"/>
              </a:rPr>
              <a:t>WRITE  no order call in this 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C6026C-628C-44EB-BD8B-C6B24B4E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5626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Independent stdio lanes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6592DD-B6EF-4E14-90FA-AF58978D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43125"/>
            <a:ext cx="3857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3FABCC-27B8-4B13-9E78-B5A1745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574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MARKET CRITIC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5254D9-EDE4-4703-A481-A8B7D28A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43175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Awaiting selected setup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396178-8FD3-4FF5-9820-0038C725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33700"/>
            <a:ext cx="340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Counter-thesis appears before risk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9AF247-C88A-4830-AC71-CE4CD6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3857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760B20-13F9-4D7F-B80D-38116E5E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62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RISK CERTIFICATE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A684F6-158D-42ED-8DCE-3F34CDBD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48100"/>
            <a:ext cx="3400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29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EE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EEDC"/>
                </a:solidFill>
                <a:latin typeface="Helvetica Neue"/>
                <a:ea typeface="Helvetica Neue"/>
                <a:cs typeface="Helvetica Neue"/>
              </a:rPr>
              <a:t>HOLD  /  NO PROPOSAL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9C8E79-9C63-4459-9CA4-D4B296D6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91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authorization → no execution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1A20DE-0EB9-414B-8E9B-64ECF29A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72000"/>
            <a:ext cx="385762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A5B499-35EF-4EFE-8BEF-06EC2312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4820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POSITION / PROTECTION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8D7BDA-2002-4C73-AB92-B77E8828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244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FLAT  ·  no AURA-managed position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3FB6CB-8D3B-41D8-9659-C8A1073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3857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2332D"/>
          </a:solidFill>
          <a:ln xmlns:a="http://schemas.openxmlformats.org/drawingml/2006/main" w="9525">
            <a:solidFill>
              <a:srgbClr val="37463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E85B1E-ED0C-4F72-ACF0-2640F749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38775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ASK AURA  /  STATUS MCP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6655CF-A069-482A-B3B3-F58F1D6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686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“Why no trade?”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285E18-7EC5-4C10-953F-8AE914B1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924550"/>
            <a:ext cx="3362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No qualifying setup or risk approval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E3F94B-7778-4ABC-AB32-EA998EC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STATIC PRODUCT VIEW  ·  NO HISTORICAL TRADE OR PERFORMANCE CLAIMS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458953-238A-4546-92C0-D528AA5D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82080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15BE5-1AF5-45D5-801E-D6A3B202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04  /  MCP +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2BC23-8A14-47D9-AF36-A87B662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Separate authority, visible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AF438-F2B1-4888-8C4E-0E168B4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AURA is an OKX ATK client and also exposes a read-only Status MCP.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C1052-D75D-456E-8647-0F1AE800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435B1-1810-463F-920F-518BAD61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AURA  /  OKX AGENT TRADE 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B0C10-BA77-430D-8EEC-399D094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4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C3DFF-F3AF-4CFA-895E-3F6DC179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3248025" cy="2752725"/>
          </a:xfrm>
          <a:prstGeom xmlns:a="http://schemas.openxmlformats.org/drawingml/2006/main" prst="roundRect">
            <a:avLst>
              <a:gd name="adj" fmla="val 276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21EFE-A851-41DE-B132-003C208A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READ MCP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09E6E-758E-4E34-A90E-143486AB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market  ·  account  ·  spot reads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E0A4C-CD2E-446F-9861-2EB1DE7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49AED-0D10-48B0-855A-45EAB22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SERVER-LEVEL READ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C6941-E69E-4D42-817F-4B1DCF6A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Market evidence and exchange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3595B-1041-4C1F-BF7C-EA44A04A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194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575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91826-D214-4D63-ABE5-6828F277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81175"/>
            <a:ext cx="3248025" cy="2752725"/>
          </a:xfrm>
          <a:prstGeom xmlns:a="http://schemas.openxmlformats.org/drawingml/2006/main" prst="roundRect">
            <a:avLst>
              <a:gd name="adj" fmla="val 2768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9BE07-7AA9-42FA-A82B-37A49832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00250"/>
            <a:ext cx="2781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03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94089-93D3-4107-A57D-E346E5B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24125"/>
            <a:ext cx="2733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Features  →  Critic  → 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8051A-3275-432C-9966-30807DBF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52775"/>
            <a:ext cx="2819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EC0CD-4D01-4723-A612-F0D96F67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38500"/>
            <a:ext cx="2619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RISK CERTIFICATE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4CF75-7216-4475-B76C-6615FBE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052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Final execution veto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EE346-75DC-4C44-A831-89F67898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194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575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355C5-A764-4AD0-9087-AC1237D5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81175"/>
            <a:ext cx="3219450" cy="2752725"/>
          </a:xfrm>
          <a:prstGeom xmlns:a="http://schemas.openxmlformats.org/drawingml/2006/main" prst="roundRect">
            <a:avLst>
              <a:gd name="adj" fmla="val 276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90DC8-C577-49C3-AD65-00AE3E99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WRITE MCP PROCESS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3337B-4A18-45BB-BBDD-846D7629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479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spot execution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AC476-4CED-43C1-81EC-FC1F1714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38475"/>
            <a:ext cx="2419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2CF588-4BB2-423A-BEDB-85D491B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575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7A2F"/>
                </a:solidFill>
                <a:latin typeface="Helvetica Neue"/>
                <a:ea typeface="Helvetica Neue"/>
                <a:cs typeface="Helvetica Neue"/>
              </a:rPr>
              <a:t>EXECUTIONENGINE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C7609-8E82-4D3E-BC6E-3791C46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147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No LLM write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17BA2-7E9B-4676-A5FE-8EEDBC78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110109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5072F-759B-4EB6-8D44-5077BAEF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ONE MANAGED POSITION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1A85E-D650-4F0A-83F7-FB962E0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81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NO BLIND RETRY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BBA9CC-580C-43AF-9937-6A2F67B2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81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AMBIGUITY → RECONCILE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B1346-7FC6-41C5-8AD6-81DBBBC5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1045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Unmanaged wallet inventory stays separate. An LLM outage blocks entries; open-position rules remain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1164263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2D46E-A1C0-4558-AAEB-CABA255A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05  /  WHY AURA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416DD-71C8-4874-A7E9-F1957668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Explainable autonomy with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E0485-065E-4971-99B2-9BFF7B5B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 trading agent earns trust by explaining the trades it refuses.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032D6-EEE8-4F27-8FB4-D57ABBC6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0060A-F429-43D0-AA1D-AFA65627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AURA  /  OKX AGENT TRADE 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C868E-4DB5-4CF4-B973-F2216D33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5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AD310-C7EF-4281-B6AB-ABB0F8AB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DBF3A-B494-4717-B92F-F367FF2A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8ADA0-E9B7-410B-A339-DE7F1AE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BOUNDED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B6034-31BD-4044-A459-02F99143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The LLM challenges a thesis.</a:t>
            </a:r>
          </a:p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It never owns trading authority.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C4103-B0EE-4C1B-A1E0-CB2442E5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6690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31818-675B-4903-A4BA-74C5E748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859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6F0E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74075-5A4A-4E28-8294-214FD74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DETERMINISTIC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466F3-1C3A-49EA-9E12-81591D7D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622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Hard risk rules decide whether</a:t>
            </a:r>
          </a:p>
          <a:p xmlns:a="http://schemas.openxmlformats.org/drawingml/2006/main">
            <a:pPr algn="l">
              <a:defRPr sz="1275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FB1A6"/>
                </a:solidFill>
                <a:latin typeface="Helvetica Neue"/>
                <a:ea typeface="Helvetica Neue"/>
                <a:cs typeface="Helvetica Neue"/>
              </a:rPr>
              <a:t>capital can be deployed.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0F63A-9856-46EF-AF2C-DB99B2F6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8B21B-C78D-49ED-8A43-6AE4FDC2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859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4499D-5CFA-44BF-9270-F50CBDF3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EXPLAINABLE AUTONOMY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EC1FD-64E7-4478-959F-1B13F840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622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Evidence, rejections and MCP calls</a:t>
            </a:r>
          </a:p>
          <a:p xmlns:a="http://schemas.openxmlformats.org/drawingml/2006/main">
            <a:pPr algn="l">
              <a:def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7736D"/>
                </a:solidFill>
                <a:latin typeface="Helvetica Neue"/>
                <a:ea typeface="Helvetica Neue"/>
                <a:cs typeface="Helvetica Neue"/>
              </a:rPr>
              <a:t>remain inspectable.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A3625-FE29-44CC-9A80-DE252EFE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1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C3E72-BAFA-41D7-A6FE-C103A193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745C"/>
                </a:solidFill>
                <a:latin typeface="Helvetica Neue"/>
                <a:ea typeface="Helvetica Neue"/>
                <a:cs typeface="Helvetica Neue"/>
              </a:rPr>
              <a:t>BTC + ETH  ·  OKX ATK MCP  ·  Risk Certificate  ·  Decision Provenance  ·  Read/Write isolation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A4083-51E2-4901-8BC9-48730862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14925"/>
            <a:ext cx="1093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AURA is designed to know when to trade, when not to trade,</a:t>
            </a:r>
          </a:p>
          <a:p xmlns:a="http://schemas.openxmlformats.org/drawingml/2006/main">
            <a:pPr algn="l">
              <a:defRPr sz="22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2925"/>
                </a:solidFill>
                <a:latin typeface="Helvetica Neue"/>
                <a:ea typeface="Helvetica Neue"/>
                <a:cs typeface="Helvetica Neue"/>
              </a:rPr>
              <a:t>and to explain both.</a:t>
            </a:r>
          </a:p>
        </p:txBody>
      </p:sp>
    </p:spTree>
    <p:extLst>
      <p:ext uri="{BB962C8B-B14F-4D97-AF65-F5344CB8AC3E}">
        <p14:creationId xmlns:p14="http://schemas.microsoft.com/office/powerpoint/2010/main" val="2032510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2026-09-12T15:05:18.7180000Z</dcterms:created>
  <dcterms:modified xsi:type="dcterms:W3CDTF">2026-09-12T15:05:18.7180000Z</dcterms:modified>
</coreProperties>
</file>