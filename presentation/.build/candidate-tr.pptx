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758ce6dc7c49c2" /><Relationship Type="http://schemas.openxmlformats.org/officeDocument/2006/relationships/extended-properties" Target="/docProps/app.xml" Id="Rfc96a5ab125e4343" /><Relationship Type="http://schemas.openxmlformats.org/officeDocument/2006/relationships/officeDocument" Target="/ppt/presentation.xml" Id="R1c0ae68d41914cb9" /></Relationships>
</file>

<file path=ppt/presentation.xml><?xml version="1.0" encoding="utf-8"?>
<p:presentation xmlns:p="http://schemas.openxmlformats.org/presentationml/2006/main">
  <p:sldMasterIdLst>
    <p:sldMasterId xmlns:r="http://schemas.openxmlformats.org/officeDocument/2006/relationships" id="2147483648" r:id="R129dcb033b904f96"/>
  </p:sldMasterIdLst>
  <p:notesMasterIdLst>
    <p:notesMasterId xmlns:r="http://schemas.openxmlformats.org/officeDocument/2006/relationships" r:id="R290a8f6995fb43e0"/>
  </p:notesMasterIdLst>
  <p:sldIdLst>
    <p:sldId xmlns:r="http://schemas.openxmlformats.org/officeDocument/2006/relationships" id="256" r:id="R53ba8b3fcbaf4775"/>
    <p:sldId xmlns:r="http://schemas.openxmlformats.org/officeDocument/2006/relationships" id="257" r:id="Rca5fc7ceeb7f4cbf"/>
    <p:sldId xmlns:r="http://schemas.openxmlformats.org/officeDocument/2006/relationships" id="258" r:id="Ree00aaf845b94637"/>
    <p:sldId xmlns:r="http://schemas.openxmlformats.org/officeDocument/2006/relationships" id="259" r:id="Rcafcaa4b4d1b4fd4"/>
    <p:sldId xmlns:r="http://schemas.openxmlformats.org/officeDocument/2006/relationships" id="260" r:id="R1a879381f34447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35d6cb7909463e" /><Relationship Type="http://schemas.openxmlformats.org/officeDocument/2006/relationships/slideMaster" Target="/ppt/slideMasters/slideMaster1.xml" Id="R129dcb033b904f96" /><Relationship Type="http://schemas.openxmlformats.org/officeDocument/2006/relationships/notesMaster" Target="/ppt/notesMasters/notesMaster1.xml" Id="R290a8f6995fb43e0" /><Relationship Type="http://schemas.openxmlformats.org/officeDocument/2006/relationships/presProps" Target="/ppt/presProps.xml" Id="R3cb6941da498434d" /><Relationship Type="http://schemas.openxmlformats.org/officeDocument/2006/relationships/tableStyles" Target="/ppt/tableStyles.xml" Id="R5299b492eeb246b8" /><Relationship Type="http://schemas.openxmlformats.org/officeDocument/2006/relationships/slide" Target="/ppt/slides/slide1.xml" Id="R53ba8b3fcbaf4775" /><Relationship Type="http://schemas.openxmlformats.org/officeDocument/2006/relationships/slide" Target="/ppt/slides/slide2.xml" Id="Rca5fc7ceeb7f4cbf" /><Relationship Type="http://schemas.openxmlformats.org/officeDocument/2006/relationships/slide" Target="/ppt/slides/slide3.xml" Id="Ree00aaf845b94637" /><Relationship Type="http://schemas.openxmlformats.org/officeDocument/2006/relationships/slide" Target="/ppt/slides/slide4.xml" Id="Rcafcaa4b4d1b4fd4" /><Relationship Type="http://schemas.openxmlformats.org/officeDocument/2006/relationships/slide" Target="/ppt/slides/slide5.xml" Id="R1a879381f34447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293682e71b4f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0c03d98f1d4e08" /><Relationship Type="http://schemas.openxmlformats.org/officeDocument/2006/relationships/notesMaster" Target="/ppt/notesMasters/notesMaster1.xml" Id="R848dd969be7543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f142f6ce4d03" /><Relationship Type="http://schemas.openxmlformats.org/officeDocument/2006/relationships/notesMaster" Target="/ppt/notesMasters/notesMaster1.xml" Id="R028216ab89f34e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b333c9c30544e3" /><Relationship Type="http://schemas.openxmlformats.org/officeDocument/2006/relationships/notesMaster" Target="/ppt/notesMasters/notesMaster1.xml" Id="R42ca62322e1843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9744d6d7ba4a7d" /><Relationship Type="http://schemas.openxmlformats.org/officeDocument/2006/relationships/notesMaster" Target="/ppt/notesMasters/notesMaster1.xml" Id="R81c4756ce4bf43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75f7df51884b66" /><Relationship Type="http://schemas.openxmlformats.org/officeDocument/2006/relationships/notesMaster" Target="/ppt/notesMasters/notesMaster1.xml" Id="R9882afcf213742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AURA, BTC-USDT ve ETH-USDT fırsatlarını tek bir yönetilen risk bütçesi için karşılaştırır. Piyasa Eleştirmeni işlemi sorgular; son karar deterministik Risk Motoru’ndadır. Her onay ve ret kanıt zinciriyle açıklanır.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OKX Agent Trade Kit piyasa ve hesap verisini sağlar. AURA EMA, ATR, ADX, spread ve emir defteri dengesizliği gibi göstergeleri hesaplar. LLM yalnızca seçilen tezi eleştirir. Risk sertifikası kesin veto yetkisine sahiptir. Belirsiz borsa sonucu kör tekrar yerine mutabakat gerektirir.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slayt AURA dashboard’ının gerçek ekran görüntülerinden oluşturulmuştur. Sol üstte BTC ve ETH fırsat panosunu; sağda Market Critic ile risk sertifikasını görüyoruz. Sol altta OKX ATK MCP çağrıları okunabilir: çağrı türü, sembol ve başarı durumu görünür. Sağ altta pozisyon ve Ask AURA alanları yer alır. Bu ekran bir işlem performansı kanıtı değildir. Dashboard üzerindeki koruma etiketi de borsa tarafındaki korumanın bağımsız doğrulaması olarak yorumlanmamalıdır.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ve WRITE iki ayrı MCP süreci ve yetki alanıdır. Piyasa Eleştirmeni yazma istemcisine erişemez; WRITE yalnızca ExecutionEngine tarafından kullanılır. AURA ayrıca dış gözlemciler için salt okunur Status MCP sunar. Yönetilmeyen cüzdan varlığı, AURA pozisyonu sayılmaz. Koruma veya işlem sonucu belirsizse sistem durur. Yeni canlı BUY emirleri, borsa tarafı koruma uçtan uca doğrulanana kadar engellenmiştir.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AURA’nın farkı sınırları açık otonomidir: LLM yorumlar ama işlem yapamaz; risk kuralları son kararı verir; kanıt ve ret gerekçesi görünürdür. Doğrulanmış canlı kârlılık iddiasında bulunmuyoruz. Yeni canlı girişler, borsa tarafı koruma doğrulanana kadar kapalıdır.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12b5881d6047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a0171c6db046f4" /><Relationship Type="http://schemas.openxmlformats.org/officeDocument/2006/relationships/slideLayout" Target="/ppt/slideLayouts/slideLayout1.xml" Id="R9770af512e4642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70af512e4642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d645516ca94064" /><Relationship Type="http://schemas.openxmlformats.org/officeDocument/2006/relationships/notesSlide" Target="/ppt/notesSlides/notesSlide1.xml" Id="R744310b60f2443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8f4c0f838b47bc" /><Relationship Type="http://schemas.openxmlformats.org/officeDocument/2006/relationships/notesSlide" Target="/ppt/notesSlides/notesSlide2.xml" Id="R30c49905fc9d4f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bb7bf29fe54c59" /><Relationship Type="http://schemas.openxmlformats.org/officeDocument/2006/relationships/image" Target="/ppt/media/image.png" Id="Rc1838a122145477f" /><Relationship Type="http://schemas.openxmlformats.org/officeDocument/2006/relationships/image" Target="/ppt/media/image2.png" Id="R7cade41f26d24e14" /><Relationship Type="http://schemas.openxmlformats.org/officeDocument/2006/relationships/image" Target="/ppt/media/image3.png" Id="R6428dacbbf80445a" /><Relationship Type="http://schemas.openxmlformats.org/officeDocument/2006/relationships/image" Target="/ppt/media/image4.png" Id="R1b1b9467141140c2" /><Relationship Type="http://schemas.openxmlformats.org/officeDocument/2006/relationships/image" Target="/ppt/media/image5.png" Id="R5840bd5b51494d4c" /><Relationship Type="http://schemas.openxmlformats.org/officeDocument/2006/relationships/image" Target="/ppt/media/image6.png" Id="R17702b54f3a845d8" /><Relationship Type="http://schemas.openxmlformats.org/officeDocument/2006/relationships/notesSlide" Target="/ppt/notesSlides/notesSlide3.xml" Id="Rccc47ced44dd41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f24f75764e4755" /><Relationship Type="http://schemas.openxmlformats.org/officeDocument/2006/relationships/notesSlide" Target="/ppt/notesSlides/notesSlide4.xml" Id="R2cd5aadd234249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2465683cb34438" /><Relationship Type="http://schemas.openxmlformats.org/officeDocument/2006/relationships/notesSlide" Target="/ppt/notesSlides/notesSlide5.xml" Id="R22e1ff4467e0447e"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14ECF09-80DA-4DB4-97A2-CE3A49E76AED}"/>
              </a:ext>
            </a:extLst>
          </p:cNvPr>
          <p:cNvSpPr>
            <a:spLocks xmlns:a="http://schemas.openxmlformats.org/drawingml/2006/main" noGrp="1"/>
          </p:cNvSpPr>
          <p:nvPr/>
        </p:nvSpPr>
        <p:spPr>
          <a:xfrm xmlns:a="http://schemas.openxmlformats.org/drawingml/2006/main">
            <a:off x="590550" y="4572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AURA</a:t>
            </a:r>
          </a:p>
        </p:txBody>
      </p:sp>
      <p:sp>
        <p:nvSpPr>
          <p:cNvPr id="2" name="">
            <a:extLst xmlns:a="http://schemas.openxmlformats.org/drawingml/2006/main">
              <a:ext uri="{FF2B5EF4-FFF2-40B4-BE49-F238E27FC236}">
                <a16:creationId xmlns:a16="http://schemas.microsoft.com/office/drawing/2014/main" id="{917CE568-9845-4985-B9AA-CBE71EB990AA}"/>
              </a:ext>
            </a:extLst>
          </p:cNvPr>
          <p:cNvSpPr>
            <a:spLocks xmlns:a="http://schemas.openxmlformats.org/drawingml/2006/main" noGrp="1"/>
          </p:cNvSpPr>
          <p:nvPr/>
        </p:nvSpPr>
        <p:spPr>
          <a:xfrm xmlns:a="http://schemas.openxmlformats.org/drawingml/2006/main">
            <a:off x="590550" y="1076325"/>
            <a:ext cx="8001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678"/>
          </a:bodyPr>
          <a:lstStyle xmlns:a="http://schemas.openxmlformats.org/drawingml/2006/main"/>
          <a:p xmlns:a="http://schemas.openxmlformats.org/drawingml/2006/main">
            <a:pPr algn="l">
              <a:defRPr sz="4350" b="1">
                <a:solidFill>
                  <a:srgbClr val="1E2925"/>
                </a:solidFill>
                <a:latin typeface="Helvetica Neue"/>
                <a:ea typeface="Helvetica Neue"/>
                <a:cs typeface="Helvetica Neue"/>
              </a:defRPr>
            </a:pPr>
            <a:r>
              <a:rPr sz="4350" b="1">
                <a:solidFill>
                  <a:srgbClr val="1E2925"/>
                </a:solidFill>
                <a:latin typeface="Helvetica Neue"/>
                <a:ea typeface="Helvetica Neue"/>
                <a:cs typeface="Helvetica Neue"/>
              </a:rPr>
              <a:t>Açıklanabilir otonom</a:t>
            </a:r>
          </a:p>
          <a:p xmlns:a="http://schemas.openxmlformats.org/drawingml/2006/main">
            <a:pPr algn="l">
              <a:defRPr sz="4350" b="1">
                <a:solidFill>
                  <a:srgbClr val="1E2925"/>
                </a:solidFill>
                <a:latin typeface="Helvetica Neue"/>
                <a:ea typeface="Helvetica Neue"/>
                <a:cs typeface="Helvetica Neue"/>
              </a:defRPr>
            </a:pPr>
            <a:r>
              <a:rPr sz="4350" b="1">
                <a:solidFill>
                  <a:srgbClr val="1E2925"/>
                </a:solidFill>
                <a:latin typeface="Helvetica Neue"/>
                <a:ea typeface="Helvetica Neue"/>
                <a:cs typeface="Helvetica Neue"/>
              </a:rPr>
              <a:t>alım-satım ajanı</a:t>
            </a:r>
          </a:p>
        </p:txBody>
      </p:sp>
      <p:sp>
        <p:nvSpPr>
          <p:cNvPr id="3" name="">
            <a:extLst xmlns:a="http://schemas.openxmlformats.org/drawingml/2006/main">
              <a:ext uri="{FF2B5EF4-FFF2-40B4-BE49-F238E27FC236}">
                <a16:creationId xmlns:a16="http://schemas.microsoft.com/office/drawing/2014/main" id="{7D63B9DB-DA34-4AD1-8130-C33D5E9C33C0}"/>
              </a:ext>
            </a:extLst>
          </p:cNvPr>
          <p:cNvSpPr>
            <a:spLocks xmlns:a="http://schemas.openxmlformats.org/drawingml/2006/main" noGrp="1"/>
          </p:cNvSpPr>
          <p:nvPr/>
        </p:nvSpPr>
        <p:spPr>
          <a:xfrm xmlns:a="http://schemas.openxmlformats.org/drawingml/2006/main">
            <a:off x="619125" y="2733675"/>
            <a:ext cx="714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67736D"/>
                </a:solidFill>
                <a:latin typeface="Helvetica Neue"/>
                <a:ea typeface="Helvetica Neue"/>
                <a:cs typeface="Helvetica Neue"/>
              </a:defRPr>
            </a:pPr>
            <a:r>
              <a:rPr sz="1800" b="0">
                <a:solidFill>
                  <a:srgbClr val="67736D"/>
                </a:solidFill>
                <a:latin typeface="Helvetica Neue"/>
                <a:ea typeface="Helvetica Neue"/>
                <a:cs typeface="Helvetica Neue"/>
              </a:rPr>
              <a:t>BTC-USDT ve ETH-USDT için tek risk bütçesi.</a:t>
            </a:r>
          </a:p>
          <a:p xmlns:a="http://schemas.openxmlformats.org/drawingml/2006/main">
            <a:pPr algn="l">
              <a:defRPr sz="1800" b="0">
                <a:solidFill>
                  <a:srgbClr val="67736D"/>
                </a:solidFill>
                <a:latin typeface="Helvetica Neue"/>
                <a:ea typeface="Helvetica Neue"/>
                <a:cs typeface="Helvetica Neue"/>
              </a:defRPr>
            </a:pPr>
            <a:r>
              <a:rPr sz="1800" b="0">
                <a:solidFill>
                  <a:srgbClr val="67736D"/>
                </a:solidFill>
                <a:latin typeface="Helvetica Neue"/>
                <a:ea typeface="Helvetica Neue"/>
                <a:cs typeface="Helvetica Neue"/>
              </a:rPr>
              <a:t>Her kararda kanıt zinciri ve kesin risk vetosu.</a:t>
            </a:r>
          </a:p>
        </p:txBody>
      </p:sp>
      <p:sp>
        <p:nvSpPr>
          <p:cNvPr id="4" name="">
            <a:extLst xmlns:a="http://schemas.openxmlformats.org/drawingml/2006/main">
              <a:ext uri="{FF2B5EF4-FFF2-40B4-BE49-F238E27FC236}">
                <a16:creationId xmlns:a16="http://schemas.microsoft.com/office/drawing/2014/main" id="{C67DAB06-CC47-4B2F-B19F-63C42B9030D6}"/>
              </a:ext>
            </a:extLst>
          </p:cNvPr>
          <p:cNvSpPr>
            <a:spLocks xmlns:a="http://schemas.openxmlformats.org/drawingml/2006/main" noGrp="1"/>
          </p:cNvSpPr>
          <p:nvPr/>
        </p:nvSpPr>
        <p:spPr>
          <a:xfrm xmlns:a="http://schemas.openxmlformats.org/drawingml/2006/main">
            <a:off x="590550" y="3829050"/>
            <a:ext cx="11010900" cy="1962150"/>
          </a:xfrm>
          <a:prstGeom xmlns:a="http://schemas.openxmlformats.org/drawingml/2006/main" prst="roundRect">
            <a:avLst>
              <a:gd name="adj" fmla="val 3883"/>
            </a:avLst>
          </a:prstGeom>
          <a:solidFill xmlns:a="http://schemas.openxmlformats.org/drawingml/2006/main">
            <a:srgbClr val="FFFEFA"/>
          </a:solidFill>
          <a:ln xmlns:a="http://schemas.openxmlformats.org/drawingml/2006/main" w="9525">
            <a:solidFill>
              <a:srgbClr val="D9DFD5"/>
            </a:solidFill>
            <a:prstDash val="solid"/>
          </a:ln>
        </p:spPr>
      </p:sp>
      <p:sp>
        <p:nvSpPr>
          <p:cNvPr id="5" name="">
            <a:extLst xmlns:a="http://schemas.openxmlformats.org/drawingml/2006/main">
              <a:ext uri="{FF2B5EF4-FFF2-40B4-BE49-F238E27FC236}">
                <a16:creationId xmlns:a16="http://schemas.microsoft.com/office/drawing/2014/main" id="{9EBBD1FB-D5C8-4AC7-8804-F3401717024E}"/>
              </a:ext>
            </a:extLst>
          </p:cNvPr>
          <p:cNvSpPr>
            <a:spLocks xmlns:a="http://schemas.openxmlformats.org/drawingml/2006/main" noGrp="1"/>
          </p:cNvSpPr>
          <p:nvPr/>
        </p:nvSpPr>
        <p:spPr>
          <a:xfrm xmlns:a="http://schemas.openxmlformats.org/drawingml/2006/main">
            <a:off x="85725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1542185B-0E31-4688-8B0D-37EE8F1F704C}"/>
              </a:ext>
            </a:extLst>
          </p:cNvPr>
          <p:cNvSpPr>
            <a:spLocks xmlns:a="http://schemas.openxmlformats.org/drawingml/2006/main" noGrp="1"/>
          </p:cNvSpPr>
          <p:nvPr/>
        </p:nvSpPr>
        <p:spPr>
          <a:xfrm xmlns:a="http://schemas.openxmlformats.org/drawingml/2006/main">
            <a:off x="85725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KARŞILAŞTIR</a:t>
            </a:r>
          </a:p>
        </p:txBody>
      </p:sp>
      <p:sp>
        <p:nvSpPr>
          <p:cNvPr id="7" name="">
            <a:extLst xmlns:a="http://schemas.openxmlformats.org/drawingml/2006/main">
              <a:ext uri="{FF2B5EF4-FFF2-40B4-BE49-F238E27FC236}">
                <a16:creationId xmlns:a16="http://schemas.microsoft.com/office/drawing/2014/main" id="{FCB08A51-7E92-42BF-9F37-5AA623A5B4F5}"/>
              </a:ext>
            </a:extLst>
          </p:cNvPr>
          <p:cNvSpPr>
            <a:spLocks xmlns:a="http://schemas.openxmlformats.org/drawingml/2006/main" noGrp="1"/>
          </p:cNvSpPr>
          <p:nvPr/>
        </p:nvSpPr>
        <p:spPr>
          <a:xfrm xmlns:a="http://schemas.openxmlformats.org/drawingml/2006/main">
            <a:off x="85725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BTC-USDT  /  ETH-USDT</a:t>
            </a:r>
          </a:p>
        </p:txBody>
      </p:sp>
      <p:sp>
        <p:nvSpPr>
          <p:cNvPr id="8" name="">
            <a:extLst xmlns:a="http://schemas.openxmlformats.org/drawingml/2006/main">
              <a:ext uri="{FF2B5EF4-FFF2-40B4-BE49-F238E27FC236}">
                <a16:creationId xmlns:a16="http://schemas.microsoft.com/office/drawing/2014/main" id="{AFBB7C58-DC73-4B89-A482-B9025962561F}"/>
              </a:ext>
            </a:extLst>
          </p:cNvPr>
          <p:cNvSpPr>
            <a:spLocks xmlns:a="http://schemas.openxmlformats.org/drawingml/2006/main" noGrp="1"/>
          </p:cNvSpPr>
          <p:nvPr/>
        </p:nvSpPr>
        <p:spPr>
          <a:xfrm xmlns:a="http://schemas.openxmlformats.org/drawingml/2006/main">
            <a:off x="4019550" y="4638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013"/>
          </a:bodyPr>
          <a:lstStyle xmlns:a="http://schemas.openxmlformats.org/drawingml/2006/main"/>
          <a:p xmlns:a="http://schemas.openxmlformats.org/drawingml/2006/main">
            <a:pPr algn="ctr">
              <a:defRPr sz="2550" b="1">
                <a:solidFill>
                  <a:srgbClr val="B47A2F"/>
                </a:solidFill>
                <a:latin typeface="Helvetica Neue"/>
                <a:ea typeface="Helvetica Neue"/>
                <a:cs typeface="Helvetica Neue"/>
              </a:defRPr>
            </a:pPr>
            <a:r>
              <a:rPr sz="2550" b="1">
                <a:solidFill>
                  <a:srgbClr val="B47A2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1910C2E0-6A7A-4040-BB79-DE37DEDAAB68}"/>
              </a:ext>
            </a:extLst>
          </p:cNvPr>
          <p:cNvSpPr>
            <a:spLocks xmlns:a="http://schemas.openxmlformats.org/drawingml/2006/main" noGrp="1"/>
          </p:cNvSpPr>
          <p:nvPr/>
        </p:nvSpPr>
        <p:spPr>
          <a:xfrm xmlns:a="http://schemas.openxmlformats.org/drawingml/2006/main">
            <a:off x="449580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87C5383D-29AB-4E7C-AF26-B8E70C5EA06D}"/>
              </a:ext>
            </a:extLst>
          </p:cNvPr>
          <p:cNvSpPr>
            <a:spLocks xmlns:a="http://schemas.openxmlformats.org/drawingml/2006/main" noGrp="1"/>
          </p:cNvSpPr>
          <p:nvPr/>
        </p:nvSpPr>
        <p:spPr>
          <a:xfrm xmlns:a="http://schemas.openxmlformats.org/drawingml/2006/main">
            <a:off x="449580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SORGULA</a:t>
            </a:r>
          </a:p>
        </p:txBody>
      </p:sp>
      <p:sp>
        <p:nvSpPr>
          <p:cNvPr id="11" name="">
            <a:extLst xmlns:a="http://schemas.openxmlformats.org/drawingml/2006/main">
              <a:ext uri="{FF2B5EF4-FFF2-40B4-BE49-F238E27FC236}">
                <a16:creationId xmlns:a16="http://schemas.microsoft.com/office/drawing/2014/main" id="{C16EE500-D219-49FC-9157-18CE8BAABA63}"/>
              </a:ext>
            </a:extLst>
          </p:cNvPr>
          <p:cNvSpPr>
            <a:spLocks xmlns:a="http://schemas.openxmlformats.org/drawingml/2006/main" noGrp="1"/>
          </p:cNvSpPr>
          <p:nvPr/>
        </p:nvSpPr>
        <p:spPr>
          <a:xfrm xmlns:a="http://schemas.openxmlformats.org/drawingml/2006/main">
            <a:off x="449580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681"/>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Sınırlandırılmış Piyasa Eleştirmeni</a:t>
            </a:r>
          </a:p>
        </p:txBody>
      </p:sp>
      <p:sp>
        <p:nvSpPr>
          <p:cNvPr id="12" name="">
            <a:extLst xmlns:a="http://schemas.openxmlformats.org/drawingml/2006/main">
              <a:ext uri="{FF2B5EF4-FFF2-40B4-BE49-F238E27FC236}">
                <a16:creationId xmlns:a16="http://schemas.microsoft.com/office/drawing/2014/main" id="{69FFA84F-83C4-4954-B865-7F69E7BF6E5B}"/>
              </a:ext>
            </a:extLst>
          </p:cNvPr>
          <p:cNvSpPr>
            <a:spLocks xmlns:a="http://schemas.openxmlformats.org/drawingml/2006/main" noGrp="1"/>
          </p:cNvSpPr>
          <p:nvPr/>
        </p:nvSpPr>
        <p:spPr>
          <a:xfrm xmlns:a="http://schemas.openxmlformats.org/drawingml/2006/main">
            <a:off x="7658100" y="4638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013"/>
          </a:bodyPr>
          <a:lstStyle xmlns:a="http://schemas.openxmlformats.org/drawingml/2006/main"/>
          <a:p xmlns:a="http://schemas.openxmlformats.org/drawingml/2006/main">
            <a:pPr algn="ctr">
              <a:defRPr sz="2550" b="1">
                <a:solidFill>
                  <a:srgbClr val="B47A2F"/>
                </a:solidFill>
                <a:latin typeface="Helvetica Neue"/>
                <a:ea typeface="Helvetica Neue"/>
                <a:cs typeface="Helvetica Neue"/>
              </a:defRPr>
            </a:pPr>
            <a:r>
              <a:rPr sz="2550" b="1">
                <a:solidFill>
                  <a:srgbClr val="B47A2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5F6414D5-E0EE-4BA1-8322-6B58ACF55DC8}"/>
              </a:ext>
            </a:extLst>
          </p:cNvPr>
          <p:cNvSpPr>
            <a:spLocks xmlns:a="http://schemas.openxmlformats.org/drawingml/2006/main" noGrp="1"/>
          </p:cNvSpPr>
          <p:nvPr/>
        </p:nvSpPr>
        <p:spPr>
          <a:xfrm xmlns:a="http://schemas.openxmlformats.org/drawingml/2006/main">
            <a:off x="8134350" y="4095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47745C"/>
                </a:solidFill>
                <a:latin typeface="Helvetica Neue"/>
                <a:ea typeface="Helvetica Neue"/>
                <a:cs typeface="Helvetica Neue"/>
              </a:defRPr>
            </a:pPr>
            <a:r>
              <a:rPr sz="2175" b="1">
                <a:solidFill>
                  <a:srgbClr val="47745C"/>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817FFBF-76BC-42E8-BC8B-B895F24731D8}"/>
              </a:ext>
            </a:extLst>
          </p:cNvPr>
          <p:cNvSpPr>
            <a:spLocks xmlns:a="http://schemas.openxmlformats.org/drawingml/2006/main" noGrp="1"/>
          </p:cNvSpPr>
          <p:nvPr/>
        </p:nvSpPr>
        <p:spPr>
          <a:xfrm xmlns:a="http://schemas.openxmlformats.org/drawingml/2006/main">
            <a:off x="8134350" y="46291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67736D"/>
                </a:solidFill>
                <a:latin typeface="Helvetica Neue"/>
                <a:ea typeface="Helvetica Neue"/>
                <a:cs typeface="Helvetica Neue"/>
              </a:defRPr>
            </a:pPr>
            <a:r>
              <a:rPr sz="1125" b="1">
                <a:solidFill>
                  <a:srgbClr val="67736D"/>
                </a:solidFill>
                <a:latin typeface="Helvetica Neue"/>
                <a:ea typeface="Helvetica Neue"/>
                <a:cs typeface="Helvetica Neue"/>
              </a:rPr>
              <a:t>ONAYLA</a:t>
            </a:r>
          </a:p>
        </p:txBody>
      </p:sp>
      <p:sp>
        <p:nvSpPr>
          <p:cNvPr id="15" name="">
            <a:extLst xmlns:a="http://schemas.openxmlformats.org/drawingml/2006/main">
              <a:ext uri="{FF2B5EF4-FFF2-40B4-BE49-F238E27FC236}">
                <a16:creationId xmlns:a16="http://schemas.microsoft.com/office/drawing/2014/main" id="{D30645D5-DE4B-43B2-85DF-23902A2A194B}"/>
              </a:ext>
            </a:extLst>
          </p:cNvPr>
          <p:cNvSpPr>
            <a:spLocks xmlns:a="http://schemas.openxmlformats.org/drawingml/2006/main" noGrp="1"/>
          </p:cNvSpPr>
          <p:nvPr/>
        </p:nvSpPr>
        <p:spPr>
          <a:xfrm xmlns:a="http://schemas.openxmlformats.org/drawingml/2006/main">
            <a:off x="8134350" y="4962525"/>
            <a:ext cx="3124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E2925"/>
                </a:solidFill>
                <a:latin typeface="Helvetica Neue"/>
                <a:ea typeface="Helvetica Neue"/>
                <a:cs typeface="Helvetica Neue"/>
              </a:defRPr>
            </a:pPr>
            <a:r>
              <a:rPr sz="1800" b="1">
                <a:solidFill>
                  <a:srgbClr val="1E2925"/>
                </a:solidFill>
                <a:latin typeface="Helvetica Neue"/>
                <a:ea typeface="Helvetica Neue"/>
                <a:cs typeface="Helvetica Neue"/>
              </a:rPr>
              <a:t>Deterministik Risk Motoru</a:t>
            </a:r>
          </a:p>
        </p:txBody>
      </p:sp>
      <p:sp>
        <p:nvSpPr>
          <p:cNvPr id="16" name="">
            <a:extLst xmlns:a="http://schemas.openxmlformats.org/drawingml/2006/main">
              <a:ext uri="{FF2B5EF4-FFF2-40B4-BE49-F238E27FC236}">
                <a16:creationId xmlns:a16="http://schemas.microsoft.com/office/drawing/2014/main" id="{064F8516-2C97-449B-A653-528DDF83C8B4}"/>
              </a:ext>
            </a:extLst>
          </p:cNvPr>
          <p:cNvSpPr>
            <a:spLocks xmlns:a="http://schemas.openxmlformats.org/drawingml/2006/main" noGrp="1"/>
          </p:cNvSpPr>
          <p:nvPr/>
        </p:nvSpPr>
        <p:spPr>
          <a:xfrm xmlns:a="http://schemas.openxmlformats.org/drawingml/2006/main">
            <a:off x="590550" y="6000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p xmlns:a="http://schemas.openxmlformats.org/drawingml/2006/main">
            <a:pPr algn="l">
              <a:defRPr sz="1650" b="1">
                <a:solidFill>
                  <a:srgbClr val="1E2925"/>
                </a:solidFill>
                <a:latin typeface="Helvetica Neue"/>
                <a:ea typeface="Helvetica Neue"/>
                <a:cs typeface="Helvetica Neue"/>
              </a:defRPr>
            </a:pPr>
            <a:r>
              <a:rPr sz="1650" b="1">
                <a:solidFill>
                  <a:srgbClr val="1E2925"/>
                </a:solidFill>
                <a:latin typeface="Helvetica Neue"/>
                <a:ea typeface="Helvetica Neue"/>
                <a:cs typeface="Helvetica Neue"/>
              </a:rPr>
              <a:t>Yapay zekâ yorumlar; sermayeyi doğrudan hareket ettiremez.</a:t>
            </a:r>
          </a:p>
        </p:txBody>
      </p:sp>
    </p:spTree>
    <p:extLst>
      <p:ext uri="{BB962C8B-B14F-4D97-AF65-F5344CB8AC3E}">
        <p14:creationId xmlns:p14="http://schemas.microsoft.com/office/powerpoint/2010/main" val="1944088261"/>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EFBB9F7F-A358-4FE2-A226-FA576AA082BB}"/>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02  /  DECISION SYSTEM</a:t>
            </a:r>
          </a:p>
        </p:txBody>
      </p:sp>
      <p:sp>
        <p:nvSpPr>
          <p:cNvPr id="2" name="">
            <a:extLst xmlns:a="http://schemas.openxmlformats.org/drawingml/2006/main">
              <a:ext uri="{FF2B5EF4-FFF2-40B4-BE49-F238E27FC236}">
                <a16:creationId xmlns:a16="http://schemas.microsoft.com/office/drawing/2014/main" id="{469054EB-9DFC-4422-8748-D101D2B43A83}"/>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Piyasa verisinden karara</a:t>
            </a:r>
          </a:p>
        </p:txBody>
      </p:sp>
      <p:sp>
        <p:nvSpPr>
          <p:cNvPr id="3" name="">
            <a:extLst xmlns:a="http://schemas.openxmlformats.org/drawingml/2006/main">
              <a:ext uri="{FF2B5EF4-FFF2-40B4-BE49-F238E27FC236}">
                <a16:creationId xmlns:a16="http://schemas.microsoft.com/office/drawing/2014/main" id="{2E1566DA-36D5-4A68-B9A4-8F4CEF14AFF1}"/>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Tek fırsat değerlendirilir; her aşama emri durdurabilir.</a:t>
            </a:r>
          </a:p>
        </p:txBody>
      </p:sp>
      <p:sp>
        <p:nvSpPr>
          <p:cNvPr id="4" name="">
            <a:extLst xmlns:a="http://schemas.openxmlformats.org/drawingml/2006/main">
              <a:ext uri="{FF2B5EF4-FFF2-40B4-BE49-F238E27FC236}">
                <a16:creationId xmlns:a16="http://schemas.microsoft.com/office/drawing/2014/main" id="{4E5116E1-F1F1-4BB2-93C3-825DCDDCA605}"/>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C21857-2F5F-41B2-AE5F-CE3A50D84929}"/>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FD1F2FF9-5BDB-4C05-BB27-DA4EB2C5C4EE}"/>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2 / 5</a:t>
            </a:r>
          </a:p>
        </p:txBody>
      </p:sp>
      <p:sp>
        <p:nvSpPr>
          <p:cNvPr id="7" name="">
            <a:extLst xmlns:a="http://schemas.openxmlformats.org/drawingml/2006/main">
              <a:ext uri="{FF2B5EF4-FFF2-40B4-BE49-F238E27FC236}">
                <a16:creationId xmlns:a16="http://schemas.microsoft.com/office/drawing/2014/main" id="{E5089796-26B6-4CA4-9061-EFC0CE708A01}"/>
              </a:ext>
            </a:extLst>
          </p:cNvPr>
          <p:cNvSpPr>
            <a:spLocks xmlns:a="http://schemas.openxmlformats.org/drawingml/2006/main" noGrp="1"/>
          </p:cNvSpPr>
          <p:nvPr/>
        </p:nvSpPr>
        <p:spPr>
          <a:xfrm xmlns:a="http://schemas.openxmlformats.org/drawingml/2006/main">
            <a:off x="5905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EC53DD3B-3976-42B5-B591-30956F5CB45D}"/>
              </a:ext>
            </a:extLst>
          </p:cNvPr>
          <p:cNvSpPr>
            <a:spLocks xmlns:a="http://schemas.openxmlformats.org/drawingml/2006/main" noGrp="1"/>
          </p:cNvSpPr>
          <p:nvPr/>
        </p:nvSpPr>
        <p:spPr>
          <a:xfrm xmlns:a="http://schemas.openxmlformats.org/drawingml/2006/main">
            <a:off x="7620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6325865D-9BC5-471C-B244-3110077A148F}"/>
              </a:ext>
            </a:extLst>
          </p:cNvPr>
          <p:cNvSpPr>
            <a:spLocks xmlns:a="http://schemas.openxmlformats.org/drawingml/2006/main" noGrp="1"/>
          </p:cNvSpPr>
          <p:nvPr/>
        </p:nvSpPr>
        <p:spPr>
          <a:xfrm xmlns:a="http://schemas.openxmlformats.org/drawingml/2006/main">
            <a:off x="7620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OKX ATK MCP</a:t>
            </a:r>
          </a:p>
        </p:txBody>
      </p:sp>
      <p:sp>
        <p:nvSpPr>
          <p:cNvPr id="10" name="">
            <a:extLst xmlns:a="http://schemas.openxmlformats.org/drawingml/2006/main">
              <a:ext uri="{FF2B5EF4-FFF2-40B4-BE49-F238E27FC236}">
                <a16:creationId xmlns:a16="http://schemas.microsoft.com/office/drawing/2014/main" id="{9D5F14AC-3228-4998-AE66-826ED3863EC0}"/>
              </a:ext>
            </a:extLst>
          </p:cNvPr>
          <p:cNvSpPr>
            <a:spLocks xmlns:a="http://schemas.openxmlformats.org/drawingml/2006/main" noGrp="1"/>
          </p:cNvSpPr>
          <p:nvPr/>
        </p:nvSpPr>
        <p:spPr>
          <a:xfrm xmlns:a="http://schemas.openxmlformats.org/drawingml/2006/main">
            <a:off x="7620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Piyasa, hesap ve spot okumaları</a:t>
            </a:r>
          </a:p>
        </p:txBody>
      </p:sp>
      <p:sp>
        <p:nvSpPr>
          <p:cNvPr id="11" name="">
            <a:extLst xmlns:a="http://schemas.openxmlformats.org/drawingml/2006/main">
              <a:ext uri="{FF2B5EF4-FFF2-40B4-BE49-F238E27FC236}">
                <a16:creationId xmlns:a16="http://schemas.microsoft.com/office/drawing/2014/main" id="{BE65389E-FF5A-4129-8F4E-FBBAB5C07137}"/>
              </a:ext>
            </a:extLst>
          </p:cNvPr>
          <p:cNvSpPr>
            <a:spLocks xmlns:a="http://schemas.openxmlformats.org/drawingml/2006/main" noGrp="1"/>
          </p:cNvSpPr>
          <p:nvPr/>
        </p:nvSpPr>
        <p:spPr>
          <a:xfrm xmlns:a="http://schemas.openxmlformats.org/drawingml/2006/main">
            <a:off x="31623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1B705C21-92DB-493E-8E58-DFBA8894DB35}"/>
              </a:ext>
            </a:extLst>
          </p:cNvPr>
          <p:cNvSpPr>
            <a:spLocks xmlns:a="http://schemas.openxmlformats.org/drawingml/2006/main" noGrp="1"/>
          </p:cNvSpPr>
          <p:nvPr/>
        </p:nvSpPr>
        <p:spPr>
          <a:xfrm xmlns:a="http://schemas.openxmlformats.org/drawingml/2006/main">
            <a:off x="33718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13" name="">
            <a:extLst xmlns:a="http://schemas.openxmlformats.org/drawingml/2006/main">
              <a:ext uri="{FF2B5EF4-FFF2-40B4-BE49-F238E27FC236}">
                <a16:creationId xmlns:a16="http://schemas.microsoft.com/office/drawing/2014/main" id="{F36C711D-4A17-4984-A140-B04B03E4CBEE}"/>
              </a:ext>
            </a:extLst>
          </p:cNvPr>
          <p:cNvSpPr>
            <a:spLocks xmlns:a="http://schemas.openxmlformats.org/drawingml/2006/main" noGrp="1"/>
          </p:cNvSpPr>
          <p:nvPr/>
        </p:nvSpPr>
        <p:spPr>
          <a:xfrm xmlns:a="http://schemas.openxmlformats.org/drawingml/2006/main">
            <a:off x="35433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426B3503-79BB-47D0-B41A-326C230C5D2D}"/>
              </a:ext>
            </a:extLst>
          </p:cNvPr>
          <p:cNvSpPr>
            <a:spLocks xmlns:a="http://schemas.openxmlformats.org/drawingml/2006/main" noGrp="1"/>
          </p:cNvSpPr>
          <p:nvPr/>
        </p:nvSpPr>
        <p:spPr>
          <a:xfrm xmlns:a="http://schemas.openxmlformats.org/drawingml/2006/main">
            <a:off x="35433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GÖSTERGELER + REJİM</a:t>
            </a:r>
          </a:p>
        </p:txBody>
      </p:sp>
      <p:sp>
        <p:nvSpPr>
          <p:cNvPr id="15" name="">
            <a:extLst xmlns:a="http://schemas.openxmlformats.org/drawingml/2006/main">
              <a:ext uri="{FF2B5EF4-FFF2-40B4-BE49-F238E27FC236}">
                <a16:creationId xmlns:a16="http://schemas.microsoft.com/office/drawing/2014/main" id="{2D919383-63A1-483A-8928-1BC71054C530}"/>
              </a:ext>
            </a:extLst>
          </p:cNvPr>
          <p:cNvSpPr>
            <a:spLocks xmlns:a="http://schemas.openxmlformats.org/drawingml/2006/main" noGrp="1"/>
          </p:cNvSpPr>
          <p:nvPr/>
        </p:nvSpPr>
        <p:spPr>
          <a:xfrm xmlns:a="http://schemas.openxmlformats.org/drawingml/2006/main">
            <a:off x="35433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EMA · ATR · ADX · spread · OBI</a:t>
            </a:r>
          </a:p>
        </p:txBody>
      </p:sp>
      <p:sp>
        <p:nvSpPr>
          <p:cNvPr id="16" name="">
            <a:extLst xmlns:a="http://schemas.openxmlformats.org/drawingml/2006/main">
              <a:ext uri="{FF2B5EF4-FFF2-40B4-BE49-F238E27FC236}">
                <a16:creationId xmlns:a16="http://schemas.microsoft.com/office/drawing/2014/main" id="{274008BD-82BA-47D4-B33D-11E962B1A8EB}"/>
              </a:ext>
            </a:extLst>
          </p:cNvPr>
          <p:cNvSpPr>
            <a:spLocks xmlns:a="http://schemas.openxmlformats.org/drawingml/2006/main" noGrp="1"/>
          </p:cNvSpPr>
          <p:nvPr/>
        </p:nvSpPr>
        <p:spPr>
          <a:xfrm xmlns:a="http://schemas.openxmlformats.org/drawingml/2006/main">
            <a:off x="59436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C77A1AF3-6343-40E8-B953-FF2C2F613F06}"/>
              </a:ext>
            </a:extLst>
          </p:cNvPr>
          <p:cNvSpPr>
            <a:spLocks xmlns:a="http://schemas.openxmlformats.org/drawingml/2006/main" noGrp="1"/>
          </p:cNvSpPr>
          <p:nvPr/>
        </p:nvSpPr>
        <p:spPr>
          <a:xfrm xmlns:a="http://schemas.openxmlformats.org/drawingml/2006/main">
            <a:off x="61531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18" name="">
            <a:extLst xmlns:a="http://schemas.openxmlformats.org/drawingml/2006/main">
              <a:ext uri="{FF2B5EF4-FFF2-40B4-BE49-F238E27FC236}">
                <a16:creationId xmlns:a16="http://schemas.microsoft.com/office/drawing/2014/main" id="{EE703AA5-25D0-4F8B-907A-868661A31D00}"/>
              </a:ext>
            </a:extLst>
          </p:cNvPr>
          <p:cNvSpPr>
            <a:spLocks xmlns:a="http://schemas.openxmlformats.org/drawingml/2006/main" noGrp="1"/>
          </p:cNvSpPr>
          <p:nvPr/>
        </p:nvSpPr>
        <p:spPr>
          <a:xfrm xmlns:a="http://schemas.openxmlformats.org/drawingml/2006/main">
            <a:off x="63246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8AE018B4-0758-41BA-AD18-93F51EE2F716}"/>
              </a:ext>
            </a:extLst>
          </p:cNvPr>
          <p:cNvSpPr>
            <a:spLocks xmlns:a="http://schemas.openxmlformats.org/drawingml/2006/main" noGrp="1"/>
          </p:cNvSpPr>
          <p:nvPr/>
        </p:nvSpPr>
        <p:spPr>
          <a:xfrm xmlns:a="http://schemas.openxmlformats.org/drawingml/2006/main">
            <a:off x="63246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FIRSAT SIRALAMASI</a:t>
            </a:r>
          </a:p>
        </p:txBody>
      </p:sp>
      <p:sp>
        <p:nvSpPr>
          <p:cNvPr id="20" name="">
            <a:extLst xmlns:a="http://schemas.openxmlformats.org/drawingml/2006/main">
              <a:ext uri="{FF2B5EF4-FFF2-40B4-BE49-F238E27FC236}">
                <a16:creationId xmlns:a16="http://schemas.microsoft.com/office/drawing/2014/main" id="{B987B96B-2B98-442F-B696-7E3A9C25823C}"/>
              </a:ext>
            </a:extLst>
          </p:cNvPr>
          <p:cNvSpPr>
            <a:spLocks xmlns:a="http://schemas.openxmlformats.org/drawingml/2006/main" noGrp="1"/>
          </p:cNvSpPr>
          <p:nvPr/>
        </p:nvSpPr>
        <p:spPr>
          <a:xfrm xmlns:a="http://schemas.openxmlformats.org/drawingml/2006/main">
            <a:off x="63246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BTC ve ETH karşılaştırılır</a:t>
            </a:r>
          </a:p>
        </p:txBody>
      </p:sp>
      <p:sp>
        <p:nvSpPr>
          <p:cNvPr id="21" name="">
            <a:extLst xmlns:a="http://schemas.openxmlformats.org/drawingml/2006/main">
              <a:ext uri="{FF2B5EF4-FFF2-40B4-BE49-F238E27FC236}">
                <a16:creationId xmlns:a16="http://schemas.microsoft.com/office/drawing/2014/main" id="{14F565E9-A5D5-4858-BF70-CD1F8BD896FA}"/>
              </a:ext>
            </a:extLst>
          </p:cNvPr>
          <p:cNvSpPr>
            <a:spLocks xmlns:a="http://schemas.openxmlformats.org/drawingml/2006/main" noGrp="1"/>
          </p:cNvSpPr>
          <p:nvPr/>
        </p:nvSpPr>
        <p:spPr>
          <a:xfrm xmlns:a="http://schemas.openxmlformats.org/drawingml/2006/main">
            <a:off x="8724900" y="22860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2474A631-CA5A-48CB-83CD-7A9FE413EAEF}"/>
              </a:ext>
            </a:extLst>
          </p:cNvPr>
          <p:cNvSpPr>
            <a:spLocks xmlns:a="http://schemas.openxmlformats.org/drawingml/2006/main" noGrp="1"/>
          </p:cNvSpPr>
          <p:nvPr/>
        </p:nvSpPr>
        <p:spPr>
          <a:xfrm xmlns:a="http://schemas.openxmlformats.org/drawingml/2006/main">
            <a:off x="8934450" y="1809750"/>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23" name="">
            <a:extLst xmlns:a="http://schemas.openxmlformats.org/drawingml/2006/main">
              <a:ext uri="{FF2B5EF4-FFF2-40B4-BE49-F238E27FC236}">
                <a16:creationId xmlns:a16="http://schemas.microsoft.com/office/drawing/2014/main" id="{4278AD08-ABD3-4C85-AEF5-A695BA0623E7}"/>
              </a:ext>
            </a:extLst>
          </p:cNvPr>
          <p:cNvSpPr>
            <a:spLocks xmlns:a="http://schemas.openxmlformats.org/drawingml/2006/main" noGrp="1"/>
          </p:cNvSpPr>
          <p:nvPr/>
        </p:nvSpPr>
        <p:spPr>
          <a:xfrm xmlns:a="http://schemas.openxmlformats.org/drawingml/2006/main">
            <a:off x="9105900" y="1943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04</a:t>
            </a:r>
          </a:p>
        </p:txBody>
      </p:sp>
      <p:sp>
        <p:nvSpPr>
          <p:cNvPr id="24" name="">
            <a:extLst xmlns:a="http://schemas.openxmlformats.org/drawingml/2006/main">
              <a:ext uri="{FF2B5EF4-FFF2-40B4-BE49-F238E27FC236}">
                <a16:creationId xmlns:a16="http://schemas.microsoft.com/office/drawing/2014/main" id="{611AEA3A-2B12-449F-A499-82A7A411EB82}"/>
              </a:ext>
            </a:extLst>
          </p:cNvPr>
          <p:cNvSpPr>
            <a:spLocks xmlns:a="http://schemas.openxmlformats.org/drawingml/2006/main" noGrp="1"/>
          </p:cNvSpPr>
          <p:nvPr/>
        </p:nvSpPr>
        <p:spPr>
          <a:xfrm xmlns:a="http://schemas.openxmlformats.org/drawingml/2006/main">
            <a:off x="9105900" y="22764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PİYASA ELEŞTİRMENİ</a:t>
            </a:r>
          </a:p>
        </p:txBody>
      </p:sp>
      <p:sp>
        <p:nvSpPr>
          <p:cNvPr id="25" name="">
            <a:extLst xmlns:a="http://schemas.openxmlformats.org/drawingml/2006/main">
              <a:ext uri="{FF2B5EF4-FFF2-40B4-BE49-F238E27FC236}">
                <a16:creationId xmlns:a16="http://schemas.microsoft.com/office/drawing/2014/main" id="{454EBA75-64FE-4E80-8C2E-829CB7C791D4}"/>
              </a:ext>
            </a:extLst>
          </p:cNvPr>
          <p:cNvSpPr>
            <a:spLocks xmlns:a="http://schemas.openxmlformats.org/drawingml/2006/main" noGrp="1"/>
          </p:cNvSpPr>
          <p:nvPr/>
        </p:nvSpPr>
        <p:spPr>
          <a:xfrm xmlns:a="http://schemas.openxmlformats.org/drawingml/2006/main">
            <a:off x="9105900" y="26098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Seçilen tez sorgulanır</a:t>
            </a:r>
          </a:p>
        </p:txBody>
      </p:sp>
      <p:sp>
        <p:nvSpPr>
          <p:cNvPr id="26" name="">
            <a:extLst xmlns:a="http://schemas.openxmlformats.org/drawingml/2006/main">
              <a:ext uri="{FF2B5EF4-FFF2-40B4-BE49-F238E27FC236}">
                <a16:creationId xmlns:a16="http://schemas.microsoft.com/office/drawing/2014/main" id="{8F24E86B-6E43-4B17-A0A8-BE4731837C4E}"/>
              </a:ext>
            </a:extLst>
          </p:cNvPr>
          <p:cNvSpPr>
            <a:spLocks xmlns:a="http://schemas.openxmlformats.org/drawingml/2006/main" noGrp="1"/>
          </p:cNvSpPr>
          <p:nvPr/>
        </p:nvSpPr>
        <p:spPr>
          <a:xfrm xmlns:a="http://schemas.openxmlformats.org/drawingml/2006/main">
            <a:off x="590550" y="3533775"/>
            <a:ext cx="2609850" cy="1295400"/>
          </a:xfrm>
          <a:prstGeom xmlns:a="http://schemas.openxmlformats.org/drawingml/2006/main" prst="roundRect">
            <a:avLst>
              <a:gd name="adj" fmla="val 5882"/>
            </a:avLst>
          </a:prstGeom>
          <a:solidFill xmlns:a="http://schemas.openxmlformats.org/drawingml/2006/main">
            <a:srgbClr val="E6F0E7"/>
          </a:solidFill>
          <a:ln xmlns:a="http://schemas.openxmlformats.org/drawingml/2006/main" w="9525">
            <a:solidFill>
              <a:srgbClr val="47745C"/>
            </a:solidFill>
            <a:prstDash val="solid"/>
          </a:ln>
        </p:spPr>
      </p:sp>
      <p:sp>
        <p:nvSpPr>
          <p:cNvPr id="27" name="">
            <a:extLst xmlns:a="http://schemas.openxmlformats.org/drawingml/2006/main">
              <a:ext uri="{FF2B5EF4-FFF2-40B4-BE49-F238E27FC236}">
                <a16:creationId xmlns:a16="http://schemas.microsoft.com/office/drawing/2014/main" id="{DD434B43-94FC-4F60-9699-1AE4F49EEB5D}"/>
              </a:ext>
            </a:extLst>
          </p:cNvPr>
          <p:cNvSpPr>
            <a:spLocks xmlns:a="http://schemas.openxmlformats.org/drawingml/2006/main" noGrp="1"/>
          </p:cNvSpPr>
          <p:nvPr/>
        </p:nvSpPr>
        <p:spPr>
          <a:xfrm xmlns:a="http://schemas.openxmlformats.org/drawingml/2006/main">
            <a:off x="7620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05</a:t>
            </a:r>
          </a:p>
        </p:txBody>
      </p:sp>
      <p:sp>
        <p:nvSpPr>
          <p:cNvPr id="28" name="">
            <a:extLst xmlns:a="http://schemas.openxmlformats.org/drawingml/2006/main">
              <a:ext uri="{FF2B5EF4-FFF2-40B4-BE49-F238E27FC236}">
                <a16:creationId xmlns:a16="http://schemas.microsoft.com/office/drawing/2014/main" id="{A6F4AD80-39DD-498C-9069-FB4CAE44B6B2}"/>
              </a:ext>
            </a:extLst>
          </p:cNvPr>
          <p:cNvSpPr>
            <a:spLocks xmlns:a="http://schemas.openxmlformats.org/drawingml/2006/main" noGrp="1"/>
          </p:cNvSpPr>
          <p:nvPr/>
        </p:nvSpPr>
        <p:spPr>
          <a:xfrm xmlns:a="http://schemas.openxmlformats.org/drawingml/2006/main">
            <a:off x="7620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RİSK SERTİFİKASI</a:t>
            </a:r>
          </a:p>
        </p:txBody>
      </p:sp>
      <p:sp>
        <p:nvSpPr>
          <p:cNvPr id="29" name="">
            <a:extLst xmlns:a="http://schemas.openxmlformats.org/drawingml/2006/main">
              <a:ext uri="{FF2B5EF4-FFF2-40B4-BE49-F238E27FC236}">
                <a16:creationId xmlns:a16="http://schemas.microsoft.com/office/drawing/2014/main" id="{AFC1BB18-912B-4678-8606-056A7C01C9FD}"/>
              </a:ext>
            </a:extLst>
          </p:cNvPr>
          <p:cNvSpPr>
            <a:spLocks xmlns:a="http://schemas.openxmlformats.org/drawingml/2006/main" noGrp="1"/>
          </p:cNvSpPr>
          <p:nvPr/>
        </p:nvSpPr>
        <p:spPr>
          <a:xfrm xmlns:a="http://schemas.openxmlformats.org/drawingml/2006/main">
            <a:off x="7620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Kesin veto ve pozisyon boyutu</a:t>
            </a:r>
          </a:p>
        </p:txBody>
      </p:sp>
      <p:sp>
        <p:nvSpPr>
          <p:cNvPr id="30" name="">
            <a:extLst xmlns:a="http://schemas.openxmlformats.org/drawingml/2006/main">
              <a:ext uri="{FF2B5EF4-FFF2-40B4-BE49-F238E27FC236}">
                <a16:creationId xmlns:a16="http://schemas.microsoft.com/office/drawing/2014/main" id="{70A757FE-971A-4AD3-9259-258752E30969}"/>
              </a:ext>
            </a:extLst>
          </p:cNvPr>
          <p:cNvSpPr>
            <a:spLocks xmlns:a="http://schemas.openxmlformats.org/drawingml/2006/main" noGrp="1"/>
          </p:cNvSpPr>
          <p:nvPr/>
        </p:nvSpPr>
        <p:spPr>
          <a:xfrm xmlns:a="http://schemas.openxmlformats.org/drawingml/2006/main">
            <a:off x="31623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6CF5E918-F784-4FCA-A753-42E28E6009D8}"/>
              </a:ext>
            </a:extLst>
          </p:cNvPr>
          <p:cNvSpPr>
            <a:spLocks xmlns:a="http://schemas.openxmlformats.org/drawingml/2006/main" noGrp="1"/>
          </p:cNvSpPr>
          <p:nvPr/>
        </p:nvSpPr>
        <p:spPr>
          <a:xfrm xmlns:a="http://schemas.openxmlformats.org/drawingml/2006/main">
            <a:off x="33718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32" name="">
            <a:extLst xmlns:a="http://schemas.openxmlformats.org/drawingml/2006/main">
              <a:ext uri="{FF2B5EF4-FFF2-40B4-BE49-F238E27FC236}">
                <a16:creationId xmlns:a16="http://schemas.microsoft.com/office/drawing/2014/main" id="{A54BFCD5-3061-4A2E-9916-CCD34423D943}"/>
              </a:ext>
            </a:extLst>
          </p:cNvPr>
          <p:cNvSpPr>
            <a:spLocks xmlns:a="http://schemas.openxmlformats.org/drawingml/2006/main" noGrp="1"/>
          </p:cNvSpPr>
          <p:nvPr/>
        </p:nvSpPr>
        <p:spPr>
          <a:xfrm xmlns:a="http://schemas.openxmlformats.org/drawingml/2006/main">
            <a:off x="35433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06</a:t>
            </a:r>
          </a:p>
        </p:txBody>
      </p:sp>
      <p:sp>
        <p:nvSpPr>
          <p:cNvPr id="33" name="">
            <a:extLst xmlns:a="http://schemas.openxmlformats.org/drawingml/2006/main">
              <a:ext uri="{FF2B5EF4-FFF2-40B4-BE49-F238E27FC236}">
                <a16:creationId xmlns:a16="http://schemas.microsoft.com/office/drawing/2014/main" id="{ADC090A1-9EB4-43E4-B1CF-03DBB601C156}"/>
              </a:ext>
            </a:extLst>
          </p:cNvPr>
          <p:cNvSpPr>
            <a:spLocks xmlns:a="http://schemas.openxmlformats.org/drawingml/2006/main" noGrp="1"/>
          </p:cNvSpPr>
          <p:nvPr/>
        </p:nvSpPr>
        <p:spPr>
          <a:xfrm xmlns:a="http://schemas.openxmlformats.org/drawingml/2006/main">
            <a:off x="35433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MCP İŞLEM</a:t>
            </a:r>
          </a:p>
        </p:txBody>
      </p:sp>
      <p:sp>
        <p:nvSpPr>
          <p:cNvPr id="34" name="">
            <a:extLst xmlns:a="http://schemas.openxmlformats.org/drawingml/2006/main">
              <a:ext uri="{FF2B5EF4-FFF2-40B4-BE49-F238E27FC236}">
                <a16:creationId xmlns:a16="http://schemas.microsoft.com/office/drawing/2014/main" id="{BCCCB9D5-87AF-4F4C-AD34-4F35ACF86E34}"/>
              </a:ext>
            </a:extLst>
          </p:cNvPr>
          <p:cNvSpPr>
            <a:spLocks xmlns:a="http://schemas.openxmlformats.org/drawingml/2006/main" noGrp="1"/>
          </p:cNvSpPr>
          <p:nvPr/>
        </p:nvSpPr>
        <p:spPr>
          <a:xfrm xmlns:a="http://schemas.openxmlformats.org/drawingml/2006/main">
            <a:off x="35433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Yalnızca ExecutionEngine</a:t>
            </a:r>
          </a:p>
        </p:txBody>
      </p:sp>
      <p:sp>
        <p:nvSpPr>
          <p:cNvPr id="35" name="">
            <a:extLst xmlns:a="http://schemas.openxmlformats.org/drawingml/2006/main">
              <a:ext uri="{FF2B5EF4-FFF2-40B4-BE49-F238E27FC236}">
                <a16:creationId xmlns:a16="http://schemas.microsoft.com/office/drawing/2014/main" id="{CFE77A76-B6C6-4DE5-93D3-858AC5D555F8}"/>
              </a:ext>
            </a:extLst>
          </p:cNvPr>
          <p:cNvSpPr>
            <a:spLocks xmlns:a="http://schemas.openxmlformats.org/drawingml/2006/main" noGrp="1"/>
          </p:cNvSpPr>
          <p:nvPr/>
        </p:nvSpPr>
        <p:spPr>
          <a:xfrm xmlns:a="http://schemas.openxmlformats.org/drawingml/2006/main">
            <a:off x="59436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36" name="">
            <a:extLst xmlns:a="http://schemas.openxmlformats.org/drawingml/2006/main">
              <a:ext uri="{FF2B5EF4-FFF2-40B4-BE49-F238E27FC236}">
                <a16:creationId xmlns:a16="http://schemas.microsoft.com/office/drawing/2014/main" id="{C80C59BB-AA9D-48A1-BA95-B31BCA32A2E9}"/>
              </a:ext>
            </a:extLst>
          </p:cNvPr>
          <p:cNvSpPr>
            <a:spLocks xmlns:a="http://schemas.openxmlformats.org/drawingml/2006/main" noGrp="1"/>
          </p:cNvSpPr>
          <p:nvPr/>
        </p:nvSpPr>
        <p:spPr>
          <a:xfrm xmlns:a="http://schemas.openxmlformats.org/drawingml/2006/main">
            <a:off x="61531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37" name="">
            <a:extLst xmlns:a="http://schemas.openxmlformats.org/drawingml/2006/main">
              <a:ext uri="{FF2B5EF4-FFF2-40B4-BE49-F238E27FC236}">
                <a16:creationId xmlns:a16="http://schemas.microsoft.com/office/drawing/2014/main" id="{6500D34D-505D-43D4-90A6-73D5E8A5B844}"/>
              </a:ext>
            </a:extLst>
          </p:cNvPr>
          <p:cNvSpPr>
            <a:spLocks xmlns:a="http://schemas.openxmlformats.org/drawingml/2006/main" noGrp="1"/>
          </p:cNvSpPr>
          <p:nvPr/>
        </p:nvSpPr>
        <p:spPr>
          <a:xfrm xmlns:a="http://schemas.openxmlformats.org/drawingml/2006/main">
            <a:off x="63246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07</a:t>
            </a:r>
          </a:p>
        </p:txBody>
      </p:sp>
      <p:sp>
        <p:nvSpPr>
          <p:cNvPr id="38" name="">
            <a:extLst xmlns:a="http://schemas.openxmlformats.org/drawingml/2006/main">
              <a:ext uri="{FF2B5EF4-FFF2-40B4-BE49-F238E27FC236}">
                <a16:creationId xmlns:a16="http://schemas.microsoft.com/office/drawing/2014/main" id="{217EE1D3-4002-44FB-A2B8-E103DDFACEE0}"/>
              </a:ext>
            </a:extLst>
          </p:cNvPr>
          <p:cNvSpPr>
            <a:spLocks xmlns:a="http://schemas.openxmlformats.org/drawingml/2006/main" noGrp="1"/>
          </p:cNvSpPr>
          <p:nvPr/>
        </p:nvSpPr>
        <p:spPr>
          <a:xfrm xmlns:a="http://schemas.openxmlformats.org/drawingml/2006/main">
            <a:off x="63246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KORUMA</a:t>
            </a:r>
          </a:p>
        </p:txBody>
      </p:sp>
      <p:sp>
        <p:nvSpPr>
          <p:cNvPr id="39" name="">
            <a:extLst xmlns:a="http://schemas.openxmlformats.org/drawingml/2006/main">
              <a:ext uri="{FF2B5EF4-FFF2-40B4-BE49-F238E27FC236}">
                <a16:creationId xmlns:a16="http://schemas.microsoft.com/office/drawing/2014/main" id="{E2FF750F-4F4C-4467-8E58-3DDC049FBC10}"/>
              </a:ext>
            </a:extLst>
          </p:cNvPr>
          <p:cNvSpPr>
            <a:spLocks xmlns:a="http://schemas.openxmlformats.org/drawingml/2006/main" noGrp="1"/>
          </p:cNvSpPr>
          <p:nvPr/>
        </p:nvSpPr>
        <p:spPr>
          <a:xfrm xmlns:a="http://schemas.openxmlformats.org/drawingml/2006/main">
            <a:off x="63246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Doğrula; belirsizlikte dur</a:t>
            </a:r>
          </a:p>
        </p:txBody>
      </p:sp>
      <p:sp>
        <p:nvSpPr>
          <p:cNvPr id="40" name="">
            <a:extLst xmlns:a="http://schemas.openxmlformats.org/drawingml/2006/main">
              <a:ext uri="{FF2B5EF4-FFF2-40B4-BE49-F238E27FC236}">
                <a16:creationId xmlns:a16="http://schemas.microsoft.com/office/drawing/2014/main" id="{D96C967F-8C2F-4821-B0DE-FE3032FE7587}"/>
              </a:ext>
            </a:extLst>
          </p:cNvPr>
          <p:cNvSpPr>
            <a:spLocks xmlns:a="http://schemas.openxmlformats.org/drawingml/2006/main" noGrp="1"/>
          </p:cNvSpPr>
          <p:nvPr/>
        </p:nvSpPr>
        <p:spPr>
          <a:xfrm xmlns:a="http://schemas.openxmlformats.org/drawingml/2006/main">
            <a:off x="8724900" y="40100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8248"/>
          </a:bodyPr>
          <a:lstStyle xmlns:a="http://schemas.openxmlformats.org/drawingml/2006/main"/>
          <a:p xmlns:a="http://schemas.openxmlformats.org/drawingml/2006/main">
            <a:pPr algn="ctr">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a:t>
            </a:r>
          </a:p>
        </p:txBody>
      </p:sp>
      <p:sp>
        <p:nvSpPr>
          <p:cNvPr id="41" name="">
            <a:extLst xmlns:a="http://schemas.openxmlformats.org/drawingml/2006/main">
              <a:ext uri="{FF2B5EF4-FFF2-40B4-BE49-F238E27FC236}">
                <a16:creationId xmlns:a16="http://schemas.microsoft.com/office/drawing/2014/main" id="{8577453D-5620-4255-A13D-C74D0DFB5759}"/>
              </a:ext>
            </a:extLst>
          </p:cNvPr>
          <p:cNvSpPr>
            <a:spLocks xmlns:a="http://schemas.openxmlformats.org/drawingml/2006/main" noGrp="1"/>
          </p:cNvSpPr>
          <p:nvPr/>
        </p:nvSpPr>
        <p:spPr>
          <a:xfrm xmlns:a="http://schemas.openxmlformats.org/drawingml/2006/main">
            <a:off x="8934450" y="3533775"/>
            <a:ext cx="26098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D9DFD5"/>
            </a:solidFill>
            <a:prstDash val="solid"/>
          </a:ln>
        </p:spPr>
      </p:sp>
      <p:sp>
        <p:nvSpPr>
          <p:cNvPr id="42" name="">
            <a:extLst xmlns:a="http://schemas.openxmlformats.org/drawingml/2006/main">
              <a:ext uri="{FF2B5EF4-FFF2-40B4-BE49-F238E27FC236}">
                <a16:creationId xmlns:a16="http://schemas.microsoft.com/office/drawing/2014/main" id="{A45B5347-2ACF-4252-9E77-C636C9B02A9F}"/>
              </a:ext>
            </a:extLst>
          </p:cNvPr>
          <p:cNvSpPr>
            <a:spLocks xmlns:a="http://schemas.openxmlformats.org/drawingml/2006/main" noGrp="1"/>
          </p:cNvSpPr>
          <p:nvPr/>
        </p:nvSpPr>
        <p:spPr>
          <a:xfrm xmlns:a="http://schemas.openxmlformats.org/drawingml/2006/main">
            <a:off x="9105900" y="3667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47A2F"/>
                </a:solidFill>
                <a:latin typeface="Helvetica Neue"/>
                <a:ea typeface="Helvetica Neue"/>
                <a:cs typeface="Helvetica Neue"/>
              </a:defRPr>
            </a:pPr>
            <a:r>
              <a:rPr sz="1350" b="1">
                <a:solidFill>
                  <a:srgbClr val="B47A2F"/>
                </a:solidFill>
                <a:latin typeface="Helvetica Neue"/>
                <a:ea typeface="Helvetica Neue"/>
                <a:cs typeface="Helvetica Neue"/>
              </a:rPr>
              <a:t>08</a:t>
            </a:r>
          </a:p>
        </p:txBody>
      </p:sp>
      <p:sp>
        <p:nvSpPr>
          <p:cNvPr id="43" name="">
            <a:extLst xmlns:a="http://schemas.openxmlformats.org/drawingml/2006/main">
              <a:ext uri="{FF2B5EF4-FFF2-40B4-BE49-F238E27FC236}">
                <a16:creationId xmlns:a16="http://schemas.microsoft.com/office/drawing/2014/main" id="{BF14905E-B54C-4354-B02B-33D38B10547A}"/>
              </a:ext>
            </a:extLst>
          </p:cNvPr>
          <p:cNvSpPr>
            <a:spLocks xmlns:a="http://schemas.openxmlformats.org/drawingml/2006/main" noGrp="1"/>
          </p:cNvSpPr>
          <p:nvPr/>
        </p:nvSpPr>
        <p:spPr>
          <a:xfrm xmlns:a="http://schemas.openxmlformats.org/drawingml/2006/main">
            <a:off x="9105900" y="40005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E2925"/>
                </a:solidFill>
                <a:latin typeface="Helvetica Neue"/>
                <a:ea typeface="Helvetica Neue"/>
                <a:cs typeface="Helvetica Neue"/>
              </a:defRPr>
            </a:pPr>
            <a:r>
              <a:rPr sz="1350" b="1">
                <a:solidFill>
                  <a:srgbClr val="1E2925"/>
                </a:solidFill>
                <a:latin typeface="Helvetica Neue"/>
                <a:ea typeface="Helvetica Neue"/>
                <a:cs typeface="Helvetica Neue"/>
              </a:rPr>
              <a:t>MUTABAKAT</a:t>
            </a:r>
          </a:p>
        </p:txBody>
      </p:sp>
      <p:sp>
        <p:nvSpPr>
          <p:cNvPr id="44" name="">
            <a:extLst xmlns:a="http://schemas.openxmlformats.org/drawingml/2006/main">
              <a:ext uri="{FF2B5EF4-FFF2-40B4-BE49-F238E27FC236}">
                <a16:creationId xmlns:a16="http://schemas.microsoft.com/office/drawing/2014/main" id="{2818492D-1850-464B-955A-E03D1A051F86}"/>
              </a:ext>
            </a:extLst>
          </p:cNvPr>
          <p:cNvSpPr>
            <a:spLocks xmlns:a="http://schemas.openxmlformats.org/drawingml/2006/main" noGrp="1"/>
          </p:cNvSpPr>
          <p:nvPr/>
        </p:nvSpPr>
        <p:spPr>
          <a:xfrm xmlns:a="http://schemas.openxmlformats.org/drawingml/2006/main">
            <a:off x="9105900" y="43338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7736D"/>
                </a:solidFill>
                <a:latin typeface="Helvetica Neue"/>
                <a:ea typeface="Helvetica Neue"/>
                <a:cs typeface="Helvetica Neue"/>
              </a:defRPr>
            </a:pPr>
            <a:r>
              <a:rPr sz="1125" b="0">
                <a:solidFill>
                  <a:srgbClr val="67736D"/>
                </a:solidFill>
                <a:latin typeface="Helvetica Neue"/>
                <a:ea typeface="Helvetica Neue"/>
                <a:cs typeface="Helvetica Neue"/>
              </a:rPr>
              <a:t>Belirsizlikte tahmin etme</a:t>
            </a:r>
          </a:p>
        </p:txBody>
      </p:sp>
      <p:sp>
        <p:nvSpPr>
          <p:cNvPr id="45" name="">
            <a:extLst xmlns:a="http://schemas.openxmlformats.org/drawingml/2006/main">
              <a:ext uri="{FF2B5EF4-FFF2-40B4-BE49-F238E27FC236}">
                <a16:creationId xmlns:a16="http://schemas.microsoft.com/office/drawing/2014/main" id="{A7411834-805B-4D22-BC48-868F7C6C1663}"/>
              </a:ext>
            </a:extLst>
          </p:cNvPr>
          <p:cNvSpPr>
            <a:spLocks xmlns:a="http://schemas.openxmlformats.org/drawingml/2006/main" noGrp="1"/>
          </p:cNvSpPr>
          <p:nvPr/>
        </p:nvSpPr>
        <p:spPr>
          <a:xfrm xmlns:a="http://schemas.openxmlformats.org/drawingml/2006/main">
            <a:off x="590550" y="5524500"/>
            <a:ext cx="11010900" cy="647700"/>
          </a:xfrm>
          <a:prstGeom xmlns:a="http://schemas.openxmlformats.org/drawingml/2006/main" prst="rect">
            <a:avLst/>
          </a:prstGeom>
          <a:solidFill xmlns:a="http://schemas.openxmlformats.org/drawingml/2006/main">
            <a:srgbClr val="16231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446E52E-E753-4C87-A018-F445BC06AA93}"/>
              </a:ext>
            </a:extLst>
          </p:cNvPr>
          <p:cNvSpPr>
            <a:spLocks xmlns:a="http://schemas.openxmlformats.org/drawingml/2006/main" noGrp="1"/>
          </p:cNvSpPr>
          <p:nvPr/>
        </p:nvSpPr>
        <p:spPr>
          <a:xfrm xmlns:a="http://schemas.openxmlformats.org/drawingml/2006/main">
            <a:off x="800100" y="56864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LLM sorgular</a:t>
            </a:r>
          </a:p>
        </p:txBody>
      </p:sp>
      <p:sp>
        <p:nvSpPr>
          <p:cNvPr id="47" name="">
            <a:extLst xmlns:a="http://schemas.openxmlformats.org/drawingml/2006/main">
              <a:ext uri="{FF2B5EF4-FFF2-40B4-BE49-F238E27FC236}">
                <a16:creationId xmlns:a16="http://schemas.microsoft.com/office/drawing/2014/main" id="{42AAD5B1-C285-4B2A-B2E5-1777922CB614}"/>
              </a:ext>
            </a:extLst>
          </p:cNvPr>
          <p:cNvSpPr>
            <a:spLocks xmlns:a="http://schemas.openxmlformats.org/drawingml/2006/main" noGrp="1"/>
          </p:cNvSpPr>
          <p:nvPr/>
        </p:nvSpPr>
        <p:spPr>
          <a:xfrm xmlns:a="http://schemas.openxmlformats.org/drawingml/2006/main">
            <a:off x="4267200" y="5686425"/>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Risk Motoru veto eder</a:t>
            </a:r>
          </a:p>
        </p:txBody>
      </p:sp>
      <p:sp>
        <p:nvSpPr>
          <p:cNvPr id="48" name="">
            <a:extLst xmlns:a="http://schemas.openxmlformats.org/drawingml/2006/main">
              <a:ext uri="{FF2B5EF4-FFF2-40B4-BE49-F238E27FC236}">
                <a16:creationId xmlns:a16="http://schemas.microsoft.com/office/drawing/2014/main" id="{CF03445B-5787-46C1-9158-B4AD9D9900FB}"/>
              </a:ext>
            </a:extLst>
          </p:cNvPr>
          <p:cNvSpPr>
            <a:spLocks xmlns:a="http://schemas.openxmlformats.org/drawingml/2006/main" noGrp="1"/>
          </p:cNvSpPr>
          <p:nvPr/>
        </p:nvSpPr>
        <p:spPr>
          <a:xfrm xmlns:a="http://schemas.openxmlformats.org/drawingml/2006/main">
            <a:off x="8258175" y="56864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Karar izi açıklar</a:t>
            </a:r>
          </a:p>
        </p:txBody>
      </p:sp>
    </p:spTree>
    <p:extLst>
      <p:ext uri="{BB962C8B-B14F-4D97-AF65-F5344CB8AC3E}">
        <p14:creationId xmlns:p14="http://schemas.microsoft.com/office/powerpoint/2010/main" val="1907354560"/>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45A870F-4CA4-4186-BAD3-9867D048AE0F}"/>
              </a:ext>
            </a:extLst>
          </p:cNvPr>
          <p:cNvSpPr>
            <a:spLocks xmlns:a="http://schemas.openxmlformats.org/drawingml/2006/main" noGrp="1"/>
          </p:cNvSpPr>
          <p:nvPr/>
        </p:nvSpPr>
        <p:spPr>
          <a:xfrm xmlns:a="http://schemas.openxmlformats.org/drawingml/2006/main">
            <a:off x="457200" y="2762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8889"/>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03  /  ÜRÜN DENEYİMİ</a:t>
            </a:r>
          </a:p>
        </p:txBody>
      </p:sp>
      <p:sp>
        <p:nvSpPr>
          <p:cNvPr id="2" name="">
            <a:extLst xmlns:a="http://schemas.openxmlformats.org/drawingml/2006/main">
              <a:ext uri="{FF2B5EF4-FFF2-40B4-BE49-F238E27FC236}">
                <a16:creationId xmlns:a16="http://schemas.microsoft.com/office/drawing/2014/main" id="{513FF1BC-699F-4BA8-873D-913A3B1D21C9}"/>
              </a:ext>
            </a:extLst>
          </p:cNvPr>
          <p:cNvSpPr>
            <a:spLocks xmlns:a="http://schemas.openxmlformats.org/drawingml/2006/main" noGrp="1"/>
          </p:cNvSpPr>
          <p:nvPr/>
        </p:nvSpPr>
        <p:spPr>
          <a:xfrm xmlns:a="http://schemas.openxmlformats.org/drawingml/2006/main">
            <a:off x="457200" y="5810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E2925"/>
                </a:solidFill>
                <a:latin typeface="Helvetica Neue"/>
                <a:ea typeface="Helvetica Neue"/>
                <a:cs typeface="Helvetica Neue"/>
              </a:defRPr>
            </a:pPr>
            <a:r>
              <a:rPr sz="3000" b="1">
                <a:solidFill>
                  <a:srgbClr val="1E2925"/>
                </a:solidFill>
                <a:latin typeface="Helvetica Neue"/>
                <a:ea typeface="Helvetica Neue"/>
                <a:cs typeface="Helvetica Neue"/>
              </a:rPr>
              <a:t>AURA Intelligence Desk</a:t>
            </a:r>
          </a:p>
        </p:txBody>
      </p:sp>
      <p:sp>
        <p:nvSpPr>
          <p:cNvPr id="3" name="">
            <a:extLst xmlns:a="http://schemas.openxmlformats.org/drawingml/2006/main">
              <a:ext uri="{FF2B5EF4-FFF2-40B4-BE49-F238E27FC236}">
                <a16:creationId xmlns:a16="http://schemas.microsoft.com/office/drawing/2014/main" id="{72DB1459-F1F4-4B71-9717-2CCAD6DB4904}"/>
              </a:ext>
            </a:extLst>
          </p:cNvPr>
          <p:cNvSpPr>
            <a:spLocks xmlns:a="http://schemas.openxmlformats.org/drawingml/2006/main" noGrp="1"/>
          </p:cNvSpPr>
          <p:nvPr/>
        </p:nvSpPr>
        <p:spPr>
          <a:xfrm xmlns:a="http://schemas.openxmlformats.org/drawingml/2006/main">
            <a:off x="476250" y="107632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Kendi dashboard’ımızdan gerçek ekran kesitleri · canlı demo gerektirmeyen ürün turu</a:t>
            </a:r>
          </a:p>
        </p:txBody>
      </p:sp>
      <p:sp>
        <p:nvSpPr>
          <p:cNvPr id="4" name="">
            <a:extLst xmlns:a="http://schemas.openxmlformats.org/drawingml/2006/main">
              <a:ext uri="{FF2B5EF4-FFF2-40B4-BE49-F238E27FC236}">
                <a16:creationId xmlns:a16="http://schemas.microsoft.com/office/drawing/2014/main" id="{C2F8B5AF-A3B7-4149-B79B-248EF8E1E116}"/>
              </a:ext>
            </a:extLst>
          </p:cNvPr>
          <p:cNvSpPr>
            <a:spLocks xmlns:a="http://schemas.openxmlformats.org/drawingml/2006/main" noGrp="1"/>
          </p:cNvSpPr>
          <p:nvPr/>
        </p:nvSpPr>
        <p:spPr>
          <a:xfrm xmlns:a="http://schemas.openxmlformats.org/drawingml/2006/main">
            <a:off x="447675" y="1466850"/>
            <a:ext cx="11296650" cy="4905375"/>
          </a:xfrm>
          <a:prstGeom xmlns:a="http://schemas.openxmlformats.org/drawingml/2006/main" prst="roundRect">
            <a:avLst>
              <a:gd name="adj" fmla="val 1553"/>
            </a:avLst>
          </a:prstGeom>
          <a:solidFill xmlns:a="http://schemas.openxmlformats.org/drawingml/2006/main">
            <a:srgbClr val="FFFEFA"/>
          </a:solidFill>
          <a:ln xmlns:a="http://schemas.openxmlformats.org/drawingml/2006/main" w="9525">
            <a:solidFill>
              <a:srgbClr val="D9DFD5"/>
            </a:solidFill>
            <a:prstDash val="solid"/>
          </a:ln>
        </p:spPr>
      </p:sp>
      <p:sp>
        <p:nvSpPr>
          <p:cNvPr id="5" name="">
            <a:extLst xmlns:a="http://schemas.openxmlformats.org/drawingml/2006/main">
              <a:ext uri="{FF2B5EF4-FFF2-40B4-BE49-F238E27FC236}">
                <a16:creationId xmlns:a16="http://schemas.microsoft.com/office/drawing/2014/main" id="{CE3C9FB2-4FDC-4239-AF9F-0F839956CCE4}"/>
              </a:ext>
            </a:extLst>
          </p:cNvPr>
          <p:cNvSpPr>
            <a:spLocks xmlns:a="http://schemas.openxmlformats.org/drawingml/2006/main" noGrp="1"/>
          </p:cNvSpPr>
          <p:nvPr/>
        </p:nvSpPr>
        <p:spPr>
          <a:xfrm xmlns:a="http://schemas.openxmlformats.org/drawingml/2006/main">
            <a:off x="609600" y="160020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47745C"/>
                </a:solidFill>
                <a:latin typeface="Helvetica Neue"/>
                <a:ea typeface="Helvetica Neue"/>
                <a:cs typeface="Helvetica Neue"/>
              </a:defRPr>
            </a:pPr>
            <a:r>
              <a:rPr sz="1050" b="1">
                <a:solidFill>
                  <a:srgbClr val="47745C"/>
                </a:solidFill>
                <a:latin typeface="Helvetica Neue"/>
                <a:ea typeface="Helvetica Neue"/>
                <a:cs typeface="Helvetica Neue"/>
              </a:rPr>
              <a:t>FIRSAT PANOSU  ·  BTC / ETH</a:t>
            </a:r>
          </a:p>
        </p:txBody>
      </p:sp>
      <p:sp>
        <p:nvSpPr>
          <p:cNvPr id="6" name="">
            <a:extLst xmlns:a="http://schemas.openxmlformats.org/drawingml/2006/main">
              <a:ext uri="{FF2B5EF4-FFF2-40B4-BE49-F238E27FC236}">
                <a16:creationId xmlns:a16="http://schemas.microsoft.com/office/drawing/2014/main" id="{82FD0909-F79C-49BE-A9AC-BCA4B41932A7}"/>
              </a:ext>
            </a:extLst>
          </p:cNvPr>
          <p:cNvSpPr>
            <a:spLocks xmlns:a="http://schemas.openxmlformats.org/drawingml/2006/main" noGrp="1"/>
          </p:cNvSpPr>
          <p:nvPr/>
        </p:nvSpPr>
        <p:spPr>
          <a:xfrm xmlns:a="http://schemas.openxmlformats.org/drawingml/2006/main">
            <a:off x="7315200" y="1600200"/>
            <a:ext cx="423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47745C"/>
                </a:solidFill>
                <a:latin typeface="Helvetica Neue"/>
                <a:ea typeface="Helvetica Neue"/>
                <a:cs typeface="Helvetica Neue"/>
              </a:defRPr>
            </a:pPr>
            <a:r>
              <a:rPr sz="1050" b="1">
                <a:solidFill>
                  <a:srgbClr val="47745C"/>
                </a:solidFill>
                <a:latin typeface="Helvetica Neue"/>
                <a:ea typeface="Helvetica Neue"/>
                <a:cs typeface="Helvetica Neue"/>
              </a:rPr>
              <a:t>ELEŞTİRMEN  /  RİSK</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1838a122145477f"/>
          <a:srcRect xmlns:a="http://schemas.openxmlformats.org/drawingml/2006/main" l="0" t="104" r="0" b="104"/>
          <a:stretch xmlns:a="http://schemas.openxmlformats.org/drawingml/2006/main">
            <a:fillRect l="0" t="0" r="0" b="0"/>
          </a:stretch>
        </p:blipFill>
        <p:spPr>
          <a:xfrm xmlns:a="http://schemas.openxmlformats.org/drawingml/2006/main">
            <a:off x="590550" y="1914525"/>
            <a:ext cx="6429375" cy="2409825"/>
          </a:xfrm>
          <a:prstGeom xmlns:a="http://schemas.openxmlformats.org/drawingml/2006/main" prst="roundRect">
            <a:avLst>
              <a:gd name="adj" fmla="val 4743"/>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cade41f26d24e14"/>
          <a:srcRect xmlns:a="http://schemas.openxmlformats.org/drawingml/2006/main" l="18" t="0" r="18" b="0"/>
          <a:stretch xmlns:a="http://schemas.openxmlformats.org/drawingml/2006/main">
            <a:fillRect l="0" t="0" r="0" b="0"/>
          </a:stretch>
        </p:blipFill>
        <p:spPr>
          <a:xfrm xmlns:a="http://schemas.openxmlformats.org/drawingml/2006/main">
            <a:off x="7124700" y="1914525"/>
            <a:ext cx="2143125" cy="2038350"/>
          </a:xfrm>
          <a:prstGeom xmlns:a="http://schemas.openxmlformats.org/drawingml/2006/main" prst="roundRect">
            <a:avLst>
              <a:gd name="adj" fmla="val 5607"/>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428dacbbf80445a"/>
          <a:srcRect xmlns:a="http://schemas.openxmlformats.org/drawingml/2006/main" l="0" t="350" r="0" b="350"/>
          <a:stretch xmlns:a="http://schemas.openxmlformats.org/drawingml/2006/main">
            <a:fillRect l="0" t="0" r="0" b="0"/>
          </a:stretch>
        </p:blipFill>
        <p:spPr>
          <a:xfrm xmlns:a="http://schemas.openxmlformats.org/drawingml/2006/main">
            <a:off x="9353550" y="1914525"/>
            <a:ext cx="2238375" cy="1885950"/>
          </a:xfrm>
          <a:prstGeom xmlns:a="http://schemas.openxmlformats.org/drawingml/2006/main" prst="roundRect">
            <a:avLst>
              <a:gd name="adj" fmla="val 6061"/>
            </a:avLst>
          </a:prstGeom>
        </p:spPr>
      </p:pic>
      <p:sp>
        <p:nvSpPr>
          <p:cNvPr id="10" name="">
            <a:extLst xmlns:a="http://schemas.openxmlformats.org/drawingml/2006/main">
              <a:ext uri="{FF2B5EF4-FFF2-40B4-BE49-F238E27FC236}">
                <a16:creationId xmlns:a16="http://schemas.microsoft.com/office/drawing/2014/main" id="{354E873C-30F2-4EF5-AA43-26642488BAC7}"/>
              </a:ext>
            </a:extLst>
          </p:cNvPr>
          <p:cNvSpPr>
            <a:spLocks xmlns:a="http://schemas.openxmlformats.org/drawingml/2006/main" noGrp="1"/>
          </p:cNvSpPr>
          <p:nvPr/>
        </p:nvSpPr>
        <p:spPr>
          <a:xfrm xmlns:a="http://schemas.openxmlformats.org/drawingml/2006/main">
            <a:off x="609600" y="4371975"/>
            <a:ext cx="6429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MCP ÇAĞRI İZİ  /  KARAR KANITI</a:t>
            </a:r>
          </a:p>
        </p:txBody>
      </p:sp>
      <p:sp>
        <p:nvSpPr>
          <p:cNvPr id="11" name="">
            <a:extLst xmlns:a="http://schemas.openxmlformats.org/drawingml/2006/main">
              <a:ext uri="{FF2B5EF4-FFF2-40B4-BE49-F238E27FC236}">
                <a16:creationId xmlns:a16="http://schemas.microsoft.com/office/drawing/2014/main" id="{2D27E428-D51D-4464-AFB3-4D8C160590A6}"/>
              </a:ext>
            </a:extLst>
          </p:cNvPr>
          <p:cNvSpPr>
            <a:spLocks xmlns:a="http://schemas.openxmlformats.org/drawingml/2006/main" noGrp="1"/>
          </p:cNvSpPr>
          <p:nvPr/>
        </p:nvSpPr>
        <p:spPr>
          <a:xfrm xmlns:a="http://schemas.openxmlformats.org/drawingml/2006/main">
            <a:off x="7315200" y="4371975"/>
            <a:ext cx="423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POZİSYON  /  AÇIKLAMA</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b1b9467141140c2"/>
          <a:srcRect xmlns:a="http://schemas.openxmlformats.org/drawingml/2006/main" l="0" t="30212" r="0" b="30212"/>
          <a:stretch xmlns:a="http://schemas.openxmlformats.org/drawingml/2006/main">
            <a:fillRect l="0" t="0" r="0" b="0"/>
          </a:stretch>
        </p:blipFill>
        <p:spPr>
          <a:xfrm xmlns:a="http://schemas.openxmlformats.org/drawingml/2006/main">
            <a:off x="590550" y="4591050"/>
            <a:ext cx="6429375" cy="1657350"/>
          </a:xfrm>
          <a:prstGeom xmlns:a="http://schemas.openxmlformats.org/drawingml/2006/main" prst="roundRect">
            <a:avLst>
              <a:gd name="adj" fmla="val 6897"/>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840bd5b51494d4c"/>
          <a:srcRect xmlns:a="http://schemas.openxmlformats.org/drawingml/2006/main" l="0" t="101" r="0" b="101"/>
          <a:stretch xmlns:a="http://schemas.openxmlformats.org/drawingml/2006/main">
            <a:fillRect l="0" t="0" r="0" b="0"/>
          </a:stretch>
        </p:blipFill>
        <p:spPr>
          <a:xfrm xmlns:a="http://schemas.openxmlformats.org/drawingml/2006/main">
            <a:off x="7124700" y="4591050"/>
            <a:ext cx="4467225" cy="1285875"/>
          </a:xfrm>
          <a:prstGeom xmlns:a="http://schemas.openxmlformats.org/drawingml/2006/main" prst="roundRect">
            <a:avLst>
              <a:gd name="adj" fmla="val 8889"/>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7702b54f3a845d8"/>
          <a:srcRect xmlns:a="http://schemas.openxmlformats.org/drawingml/2006/main" l="0" t="42262" r="0" b="42262"/>
          <a:stretch xmlns:a="http://schemas.openxmlformats.org/drawingml/2006/main">
            <a:fillRect l="0" t="0" r="0" b="0"/>
          </a:stretch>
        </p:blipFill>
        <p:spPr>
          <a:xfrm xmlns:a="http://schemas.openxmlformats.org/drawingml/2006/main">
            <a:off x="7124700" y="5953125"/>
            <a:ext cx="4467225" cy="295275"/>
          </a:xfrm>
          <a:prstGeom xmlns:a="http://schemas.openxmlformats.org/drawingml/2006/main" prst="roundRect">
            <a:avLst>
              <a:gd name="adj" fmla="val 38710"/>
            </a:avLst>
          </a:prstGeom>
        </p:spPr>
      </p:pic>
      <p:sp>
        <p:nvSpPr>
          <p:cNvPr id="15" name="">
            <a:extLst xmlns:a="http://schemas.openxmlformats.org/drawingml/2006/main">
              <a:ext uri="{FF2B5EF4-FFF2-40B4-BE49-F238E27FC236}">
                <a16:creationId xmlns:a16="http://schemas.microsoft.com/office/drawing/2014/main" id="{80B22264-7006-45AB-B6F9-43D5CABA449A}"/>
              </a:ext>
            </a:extLst>
          </p:cNvPr>
          <p:cNvSpPr>
            <a:spLocks xmlns:a="http://schemas.openxmlformats.org/drawingml/2006/main" noGrp="1"/>
          </p:cNvSpPr>
          <p:nvPr/>
        </p:nvSpPr>
        <p:spPr>
          <a:xfrm xmlns:a="http://schemas.openxmlformats.org/drawingml/2006/main">
            <a:off x="485775" y="65055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7736D"/>
                </a:solidFill>
                <a:latin typeface="Helvetica Neue"/>
                <a:ea typeface="Helvetica Neue"/>
                <a:cs typeface="Helvetica Neue"/>
              </a:defRPr>
            </a:pPr>
            <a:r>
              <a:rPr sz="900" b="0">
                <a:solidFill>
                  <a:srgbClr val="67736D"/>
                </a:solidFill>
                <a:latin typeface="Helvetica Neue"/>
                <a:ea typeface="Helvetica Neue"/>
                <a:cs typeface="Helvetica Neue"/>
              </a:rPr>
              <a:t>Gerçek ekran görüntüsü · çekim anındaki durum · koruma etiketi bağımsız doğrulama değildir</a:t>
            </a:r>
          </a:p>
        </p:txBody>
      </p:sp>
      <p:sp>
        <p:nvSpPr>
          <p:cNvPr id="16" name="">
            <a:extLst xmlns:a="http://schemas.openxmlformats.org/drawingml/2006/main">
              <a:ext uri="{FF2B5EF4-FFF2-40B4-BE49-F238E27FC236}">
                <a16:creationId xmlns:a16="http://schemas.microsoft.com/office/drawing/2014/main" id="{5EACDACA-1BEB-4F73-932C-0851B727E146}"/>
              </a:ext>
            </a:extLst>
          </p:cNvPr>
          <p:cNvSpPr>
            <a:spLocks xmlns:a="http://schemas.openxmlformats.org/drawingml/2006/main" noGrp="1"/>
          </p:cNvSpPr>
          <p:nvPr/>
        </p:nvSpPr>
        <p:spPr>
          <a:xfrm xmlns:a="http://schemas.openxmlformats.org/drawingml/2006/main">
            <a:off x="10839450" y="65055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67736D"/>
                </a:solidFill>
                <a:latin typeface="Helvetica Neue"/>
                <a:ea typeface="Helvetica Neue"/>
                <a:cs typeface="Helvetica Neue"/>
              </a:defRPr>
            </a:pPr>
            <a:r>
              <a:rPr sz="900" b="1">
                <a:solidFill>
                  <a:srgbClr val="67736D"/>
                </a:solidFill>
                <a:latin typeface="Helvetica Neue"/>
                <a:ea typeface="Helvetica Neue"/>
                <a:cs typeface="Helvetica Neue"/>
              </a:rPr>
              <a:t>3 / 5</a:t>
            </a:r>
          </a:p>
        </p:txBody>
      </p:sp>
    </p:spTree>
    <p:extLst>
      <p:ext uri="{BB962C8B-B14F-4D97-AF65-F5344CB8AC3E}">
        <p14:creationId xmlns:p14="http://schemas.microsoft.com/office/powerpoint/2010/main" val="447898161"/>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8E23A9B-2F1C-4789-AAD0-C3B1B44D2205}"/>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04  /  MCP + SAFETY</a:t>
            </a:r>
          </a:p>
        </p:txBody>
      </p:sp>
      <p:sp>
        <p:nvSpPr>
          <p:cNvPr id="2" name="">
            <a:extLst xmlns:a="http://schemas.openxmlformats.org/drawingml/2006/main">
              <a:ext uri="{FF2B5EF4-FFF2-40B4-BE49-F238E27FC236}">
                <a16:creationId xmlns:a16="http://schemas.microsoft.com/office/drawing/2014/main" id="{4D0BB36B-6488-47B5-ACBB-6FA8C57D23AE}"/>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Ayrı yetki, görünür kanıt</a:t>
            </a:r>
          </a:p>
        </p:txBody>
      </p:sp>
      <p:sp>
        <p:nvSpPr>
          <p:cNvPr id="3" name="">
            <a:extLst xmlns:a="http://schemas.openxmlformats.org/drawingml/2006/main">
              <a:ext uri="{FF2B5EF4-FFF2-40B4-BE49-F238E27FC236}">
                <a16:creationId xmlns:a16="http://schemas.microsoft.com/office/drawing/2014/main" id="{9B5EB51F-889E-4C1A-A726-9736162CB7B3}"/>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AURA, OKX ATK istemcisi ve salt okunur Status MCP sunucusudur.</a:t>
            </a:r>
          </a:p>
        </p:txBody>
      </p:sp>
      <p:sp>
        <p:nvSpPr>
          <p:cNvPr id="4" name="">
            <a:extLst xmlns:a="http://schemas.openxmlformats.org/drawingml/2006/main">
              <a:ext uri="{FF2B5EF4-FFF2-40B4-BE49-F238E27FC236}">
                <a16:creationId xmlns:a16="http://schemas.microsoft.com/office/drawing/2014/main" id="{A6D1896E-BA7B-4836-A926-0B518B076953}"/>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C8DAAA-9B74-46F6-B1CA-26E1422129ED}"/>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64C398BC-F4B9-4738-888A-AECEF97DC149}"/>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4 / 5</a:t>
            </a:r>
          </a:p>
        </p:txBody>
      </p:sp>
      <p:sp>
        <p:nvSpPr>
          <p:cNvPr id="7" name="">
            <a:extLst xmlns:a="http://schemas.openxmlformats.org/drawingml/2006/main">
              <a:ext uri="{FF2B5EF4-FFF2-40B4-BE49-F238E27FC236}">
                <a16:creationId xmlns:a16="http://schemas.microsoft.com/office/drawing/2014/main" id="{DFB24811-8550-43FF-90D9-EEBE4910A8DA}"/>
              </a:ext>
            </a:extLst>
          </p:cNvPr>
          <p:cNvSpPr>
            <a:spLocks xmlns:a="http://schemas.openxmlformats.org/drawingml/2006/main" noGrp="1"/>
          </p:cNvSpPr>
          <p:nvPr/>
        </p:nvSpPr>
        <p:spPr>
          <a:xfrm xmlns:a="http://schemas.openxmlformats.org/drawingml/2006/main">
            <a:off x="590550" y="1781175"/>
            <a:ext cx="3248025" cy="2752725"/>
          </a:xfrm>
          <a:prstGeom xmlns:a="http://schemas.openxmlformats.org/drawingml/2006/main" prst="roundRect">
            <a:avLst>
              <a:gd name="adj" fmla="val 2768"/>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D425770C-4361-4763-9D46-01D0E201E37C}"/>
              </a:ext>
            </a:extLst>
          </p:cNvPr>
          <p:cNvSpPr>
            <a:spLocks xmlns:a="http://schemas.openxmlformats.org/drawingml/2006/main" noGrp="1"/>
          </p:cNvSpPr>
          <p:nvPr/>
        </p:nvSpPr>
        <p:spPr>
          <a:xfrm xmlns:a="http://schemas.openxmlformats.org/drawingml/2006/main">
            <a:off x="819150" y="20002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l">
              <a:defRPr sz="2025" b="1">
                <a:solidFill>
                  <a:srgbClr val="1E2925"/>
                </a:solidFill>
                <a:latin typeface="Helvetica Neue"/>
                <a:ea typeface="Helvetica Neue"/>
                <a:cs typeface="Helvetica Neue"/>
              </a:defRPr>
            </a:pPr>
            <a:r>
              <a:rPr sz="2025" b="1">
                <a:solidFill>
                  <a:srgbClr val="1E2925"/>
                </a:solidFill>
                <a:latin typeface="Helvetica Neue"/>
                <a:ea typeface="Helvetica Neue"/>
                <a:cs typeface="Helvetica Neue"/>
              </a:rPr>
              <a:t>READ MCP SÜRECİ</a:t>
            </a:r>
          </a:p>
        </p:txBody>
      </p:sp>
      <p:sp>
        <p:nvSpPr>
          <p:cNvPr id="9" name="">
            <a:extLst xmlns:a="http://schemas.openxmlformats.org/drawingml/2006/main">
              <a:ext uri="{FF2B5EF4-FFF2-40B4-BE49-F238E27FC236}">
                <a16:creationId xmlns:a16="http://schemas.microsoft.com/office/drawing/2014/main" id="{154F6D1D-5D87-4A4E-92AF-FD334C371CC9}"/>
              </a:ext>
            </a:extLst>
          </p:cNvPr>
          <p:cNvSpPr>
            <a:spLocks xmlns:a="http://schemas.openxmlformats.org/drawingml/2006/main" noGrp="1"/>
          </p:cNvSpPr>
          <p:nvPr/>
        </p:nvSpPr>
        <p:spPr>
          <a:xfrm xmlns:a="http://schemas.openxmlformats.org/drawingml/2006/main">
            <a:off x="819150" y="24479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piyasa  ·  hesap  ·  spot okuma</a:t>
            </a:r>
          </a:p>
        </p:txBody>
      </p:sp>
      <p:sp>
        <p:nvSpPr>
          <p:cNvPr id="10" name="">
            <a:extLst xmlns:a="http://schemas.openxmlformats.org/drawingml/2006/main">
              <a:ext uri="{FF2B5EF4-FFF2-40B4-BE49-F238E27FC236}">
                <a16:creationId xmlns:a16="http://schemas.microsoft.com/office/drawing/2014/main" id="{22EDB3F0-3279-455F-9E1E-E786BC84EF7B}"/>
              </a:ext>
            </a:extLst>
          </p:cNvPr>
          <p:cNvSpPr>
            <a:spLocks xmlns:a="http://schemas.openxmlformats.org/drawingml/2006/main" noGrp="1"/>
          </p:cNvSpPr>
          <p:nvPr/>
        </p:nvSpPr>
        <p:spPr>
          <a:xfrm xmlns:a="http://schemas.openxmlformats.org/drawingml/2006/main">
            <a:off x="819150" y="3038475"/>
            <a:ext cx="2476500" cy="266700"/>
          </a:xfrm>
          <a:prstGeom xmlns:a="http://schemas.openxmlformats.org/drawingml/2006/main" prst="roundRect">
            <a:avLst>
              <a:gd name="adj" fmla="val 28571"/>
            </a:avLst>
          </a:prstGeom>
          <a:solidFill xmlns:a="http://schemas.openxmlformats.org/drawingml/2006/main">
            <a:srgbClr val="E6F0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953C032-39E0-47F7-BF8E-8D521F51EDC6}"/>
              </a:ext>
            </a:extLst>
          </p:cNvPr>
          <p:cNvSpPr>
            <a:spLocks xmlns:a="http://schemas.openxmlformats.org/drawingml/2006/main" noGrp="1"/>
          </p:cNvSpPr>
          <p:nvPr/>
        </p:nvSpPr>
        <p:spPr>
          <a:xfrm xmlns:a="http://schemas.openxmlformats.org/drawingml/2006/main">
            <a:off x="914400" y="3057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47745C"/>
                </a:solidFill>
                <a:latin typeface="Helvetica Neue"/>
                <a:ea typeface="Helvetica Neue"/>
                <a:cs typeface="Helvetica Neue"/>
              </a:defRPr>
            </a:pPr>
            <a:r>
              <a:rPr sz="975" b="1">
                <a:solidFill>
                  <a:srgbClr val="47745C"/>
                </a:solidFill>
                <a:latin typeface="Helvetica Neue"/>
                <a:ea typeface="Helvetica Neue"/>
                <a:cs typeface="Helvetica Neue"/>
              </a:rPr>
              <a:t>SUNUCU DÜZEYİNDE SALT OKUMA</a:t>
            </a:r>
          </a:p>
        </p:txBody>
      </p:sp>
      <p:sp>
        <p:nvSpPr>
          <p:cNvPr id="12" name="">
            <a:extLst xmlns:a="http://schemas.openxmlformats.org/drawingml/2006/main">
              <a:ext uri="{FF2B5EF4-FFF2-40B4-BE49-F238E27FC236}">
                <a16:creationId xmlns:a16="http://schemas.microsoft.com/office/drawing/2014/main" id="{C005947F-D895-4C55-8801-2CC2F6374F5E}"/>
              </a:ext>
            </a:extLst>
          </p:cNvPr>
          <p:cNvSpPr>
            <a:spLocks xmlns:a="http://schemas.openxmlformats.org/drawingml/2006/main" noGrp="1"/>
          </p:cNvSpPr>
          <p:nvPr/>
        </p:nvSpPr>
        <p:spPr>
          <a:xfrm xmlns:a="http://schemas.openxmlformats.org/drawingml/2006/main">
            <a:off x="819150" y="3514725"/>
            <a:ext cx="2714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Piyasa kanıtı ve borsa verisi</a:t>
            </a:r>
          </a:p>
        </p:txBody>
      </p:sp>
      <p:sp>
        <p:nvSpPr>
          <p:cNvPr id="13" name="">
            <a:extLst xmlns:a="http://schemas.openxmlformats.org/drawingml/2006/main">
              <a:ext uri="{FF2B5EF4-FFF2-40B4-BE49-F238E27FC236}">
                <a16:creationId xmlns:a16="http://schemas.microsoft.com/office/drawing/2014/main" id="{6555EDDD-5E78-4643-B81C-3A27D53CA0BF}"/>
              </a:ext>
            </a:extLst>
          </p:cNvPr>
          <p:cNvSpPr>
            <a:spLocks xmlns:a="http://schemas.openxmlformats.org/drawingml/2006/main" noGrp="1"/>
          </p:cNvSpPr>
          <p:nvPr/>
        </p:nvSpPr>
        <p:spPr>
          <a:xfrm xmlns:a="http://schemas.openxmlformats.org/drawingml/2006/main">
            <a:off x="3857625" y="28194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575"/>
          </a:bodyPr>
          <a:lstStyle xmlns:a="http://schemas.openxmlformats.org/drawingml/2006/main"/>
          <a:p xmlns:a="http://schemas.openxmlformats.org/drawingml/2006/main">
            <a:pPr algn="ctr">
              <a:defRPr sz="3450" b="1">
                <a:solidFill>
                  <a:srgbClr val="47745C"/>
                </a:solidFill>
                <a:latin typeface="Helvetica Neue"/>
                <a:ea typeface="Helvetica Neue"/>
                <a:cs typeface="Helvetica Neue"/>
              </a:defRPr>
            </a:pPr>
            <a:r>
              <a:rPr sz="3450" b="1">
                <a:solidFill>
                  <a:srgbClr val="47745C"/>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A65C9E36-035C-4D0B-B395-C772ABEBDD2E}"/>
              </a:ext>
            </a:extLst>
          </p:cNvPr>
          <p:cNvSpPr>
            <a:spLocks xmlns:a="http://schemas.openxmlformats.org/drawingml/2006/main" noGrp="1"/>
          </p:cNvSpPr>
          <p:nvPr/>
        </p:nvSpPr>
        <p:spPr>
          <a:xfrm xmlns:a="http://schemas.openxmlformats.org/drawingml/2006/main">
            <a:off x="4476750" y="1781175"/>
            <a:ext cx="3248025" cy="2752725"/>
          </a:xfrm>
          <a:prstGeom xmlns:a="http://schemas.openxmlformats.org/drawingml/2006/main" prst="roundRect">
            <a:avLst>
              <a:gd name="adj" fmla="val 2768"/>
            </a:avLst>
          </a:prstGeom>
          <a:solidFill xmlns:a="http://schemas.openxmlformats.org/drawingml/2006/main">
            <a:srgbClr val="1623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622F5D-C012-4D23-8FE3-102E8C709020}"/>
              </a:ext>
            </a:extLst>
          </p:cNvPr>
          <p:cNvSpPr>
            <a:spLocks xmlns:a="http://schemas.openxmlformats.org/drawingml/2006/main" noGrp="1"/>
          </p:cNvSpPr>
          <p:nvPr/>
        </p:nvSpPr>
        <p:spPr>
          <a:xfrm xmlns:a="http://schemas.openxmlformats.org/drawingml/2006/main">
            <a:off x="4724400" y="2000250"/>
            <a:ext cx="27813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032"/>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AURA</a:t>
            </a:r>
          </a:p>
        </p:txBody>
      </p:sp>
      <p:sp>
        <p:nvSpPr>
          <p:cNvPr id="16" name="">
            <a:extLst xmlns:a="http://schemas.openxmlformats.org/drawingml/2006/main">
              <a:ext uri="{FF2B5EF4-FFF2-40B4-BE49-F238E27FC236}">
                <a16:creationId xmlns:a16="http://schemas.microsoft.com/office/drawing/2014/main" id="{25835E49-6DC5-4E6D-B8BA-66C58CF5D065}"/>
              </a:ext>
            </a:extLst>
          </p:cNvPr>
          <p:cNvSpPr>
            <a:spLocks xmlns:a="http://schemas.openxmlformats.org/drawingml/2006/main" noGrp="1"/>
          </p:cNvSpPr>
          <p:nvPr/>
        </p:nvSpPr>
        <p:spPr>
          <a:xfrm xmlns:a="http://schemas.openxmlformats.org/drawingml/2006/main">
            <a:off x="4724400" y="2524125"/>
            <a:ext cx="27336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497"/>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Göstergeler  →  Eleştirmen  →  Risk</a:t>
            </a:r>
          </a:p>
        </p:txBody>
      </p:sp>
      <p:sp>
        <p:nvSpPr>
          <p:cNvPr id="17" name="">
            <a:extLst xmlns:a="http://schemas.openxmlformats.org/drawingml/2006/main">
              <a:ext uri="{FF2B5EF4-FFF2-40B4-BE49-F238E27FC236}">
                <a16:creationId xmlns:a16="http://schemas.microsoft.com/office/drawing/2014/main" id="{65D689F6-04FB-4193-954C-FCA1191E44AF}"/>
              </a:ext>
            </a:extLst>
          </p:cNvPr>
          <p:cNvSpPr>
            <a:spLocks xmlns:a="http://schemas.openxmlformats.org/drawingml/2006/main" noGrp="1"/>
          </p:cNvSpPr>
          <p:nvPr/>
        </p:nvSpPr>
        <p:spPr>
          <a:xfrm xmlns:a="http://schemas.openxmlformats.org/drawingml/2006/main">
            <a:off x="4695825" y="3152775"/>
            <a:ext cx="2819400" cy="666750"/>
          </a:xfrm>
          <a:prstGeom xmlns:a="http://schemas.openxmlformats.org/drawingml/2006/main" prst="roundRect">
            <a:avLst>
              <a:gd name="adj" fmla="val 11429"/>
            </a:avLst>
          </a:prstGeom>
          <a:solidFill xmlns:a="http://schemas.openxmlformats.org/drawingml/2006/main">
            <a:srgbClr val="E6F0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A1272DC-115F-45C8-A7EF-BBC05C323E7F}"/>
              </a:ext>
            </a:extLst>
          </p:cNvPr>
          <p:cNvSpPr>
            <a:spLocks xmlns:a="http://schemas.openxmlformats.org/drawingml/2006/main" noGrp="1"/>
          </p:cNvSpPr>
          <p:nvPr/>
        </p:nvSpPr>
        <p:spPr>
          <a:xfrm xmlns:a="http://schemas.openxmlformats.org/drawingml/2006/main">
            <a:off x="4829175" y="3238500"/>
            <a:ext cx="2619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5686"/>
          </a:bodyPr>
          <a:lstStyle xmlns:a="http://schemas.openxmlformats.org/drawingml/2006/main"/>
          <a:p xmlns:a="http://schemas.openxmlformats.org/drawingml/2006/main">
            <a:pPr algn="l">
              <a:defRPr sz="1275" b="1">
                <a:solidFill>
                  <a:srgbClr val="47745C"/>
                </a:solidFill>
                <a:latin typeface="Helvetica Neue"/>
                <a:ea typeface="Helvetica Neue"/>
                <a:cs typeface="Helvetica Neue"/>
              </a:defRPr>
            </a:pPr>
            <a:r>
              <a:rPr sz="1275" b="1">
                <a:solidFill>
                  <a:srgbClr val="47745C"/>
                </a:solidFill>
                <a:latin typeface="Helvetica Neue"/>
                <a:ea typeface="Helvetica Neue"/>
                <a:cs typeface="Helvetica Neue"/>
              </a:rPr>
              <a:t>RİSK SERTİFİKASI</a:t>
            </a:r>
          </a:p>
        </p:txBody>
      </p:sp>
      <p:sp>
        <p:nvSpPr>
          <p:cNvPr id="19" name="">
            <a:extLst xmlns:a="http://schemas.openxmlformats.org/drawingml/2006/main">
              <a:ext uri="{FF2B5EF4-FFF2-40B4-BE49-F238E27FC236}">
                <a16:creationId xmlns:a16="http://schemas.microsoft.com/office/drawing/2014/main" id="{7CEC8D01-8832-4123-9769-0C0EC96AD95F}"/>
              </a:ext>
            </a:extLst>
          </p:cNvPr>
          <p:cNvSpPr>
            <a:spLocks xmlns:a="http://schemas.openxmlformats.org/drawingml/2006/main" noGrp="1"/>
          </p:cNvSpPr>
          <p:nvPr/>
        </p:nvSpPr>
        <p:spPr>
          <a:xfrm xmlns:a="http://schemas.openxmlformats.org/drawingml/2006/main">
            <a:off x="4829175" y="3505200"/>
            <a:ext cx="247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5686"/>
          </a:bodyPr>
          <a:lstStyle xmlns:a="http://schemas.openxmlformats.org/drawingml/2006/main"/>
          <a:p xmlns:a="http://schemas.openxmlformats.org/drawingml/2006/main">
            <a:pPr algn="l">
              <a:defRPr sz="1275" b="1">
                <a:solidFill>
                  <a:srgbClr val="1E2925"/>
                </a:solidFill>
                <a:latin typeface="Helvetica Neue"/>
                <a:ea typeface="Helvetica Neue"/>
                <a:cs typeface="Helvetica Neue"/>
              </a:defRPr>
            </a:pPr>
            <a:r>
              <a:rPr sz="1275" b="1">
                <a:solidFill>
                  <a:srgbClr val="1E2925"/>
                </a:solidFill>
                <a:latin typeface="Helvetica Neue"/>
                <a:ea typeface="Helvetica Neue"/>
                <a:cs typeface="Helvetica Neue"/>
              </a:rPr>
              <a:t>Son işlem vetosu</a:t>
            </a:r>
          </a:p>
        </p:txBody>
      </p:sp>
      <p:sp>
        <p:nvSpPr>
          <p:cNvPr id="20" name="">
            <a:extLst xmlns:a="http://schemas.openxmlformats.org/drawingml/2006/main">
              <a:ext uri="{FF2B5EF4-FFF2-40B4-BE49-F238E27FC236}">
                <a16:creationId xmlns:a16="http://schemas.microsoft.com/office/drawing/2014/main" id="{CA7CF15B-8A43-4FB3-BCE9-CB6BA2974A7B}"/>
              </a:ext>
            </a:extLst>
          </p:cNvPr>
          <p:cNvSpPr>
            <a:spLocks xmlns:a="http://schemas.openxmlformats.org/drawingml/2006/main" noGrp="1"/>
          </p:cNvSpPr>
          <p:nvPr/>
        </p:nvSpPr>
        <p:spPr>
          <a:xfrm xmlns:a="http://schemas.openxmlformats.org/drawingml/2006/main">
            <a:off x="7762875" y="28194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575"/>
          </a:bodyPr>
          <a:lstStyle xmlns:a="http://schemas.openxmlformats.org/drawingml/2006/main"/>
          <a:p xmlns:a="http://schemas.openxmlformats.org/drawingml/2006/main">
            <a:pPr algn="ctr">
              <a:defRPr sz="3450" b="1">
                <a:solidFill>
                  <a:srgbClr val="47745C"/>
                </a:solidFill>
                <a:latin typeface="Helvetica Neue"/>
                <a:ea typeface="Helvetica Neue"/>
                <a:cs typeface="Helvetica Neue"/>
              </a:defRPr>
            </a:pPr>
            <a:r>
              <a:rPr sz="3450" b="1">
                <a:solidFill>
                  <a:srgbClr val="47745C"/>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5B70A977-89D8-4741-96E7-4E0A5B20DACE}"/>
              </a:ext>
            </a:extLst>
          </p:cNvPr>
          <p:cNvSpPr>
            <a:spLocks xmlns:a="http://schemas.openxmlformats.org/drawingml/2006/main" noGrp="1"/>
          </p:cNvSpPr>
          <p:nvPr/>
        </p:nvSpPr>
        <p:spPr>
          <a:xfrm xmlns:a="http://schemas.openxmlformats.org/drawingml/2006/main">
            <a:off x="8382000" y="1781175"/>
            <a:ext cx="3219450" cy="2752725"/>
          </a:xfrm>
          <a:prstGeom xmlns:a="http://schemas.openxmlformats.org/drawingml/2006/main" prst="roundRect">
            <a:avLst>
              <a:gd name="adj" fmla="val 2768"/>
            </a:avLst>
          </a:prstGeom>
          <a:solidFill xmlns:a="http://schemas.openxmlformats.org/drawingml/2006/main">
            <a:srgbClr val="FFFEFA"/>
          </a:solidFill>
          <a:ln xmlns:a="http://schemas.openxmlformats.org/drawingml/2006/main" w="9525">
            <a:solidFill>
              <a:srgbClr val="D9DFD5"/>
            </a:solidFill>
            <a:prstDash val="solid"/>
          </a:ln>
        </p:spPr>
      </p:sp>
      <p:sp>
        <p:nvSpPr>
          <p:cNvPr id="22" name="">
            <a:extLst xmlns:a="http://schemas.openxmlformats.org/drawingml/2006/main">
              <a:ext uri="{FF2B5EF4-FFF2-40B4-BE49-F238E27FC236}">
                <a16:creationId xmlns:a16="http://schemas.microsoft.com/office/drawing/2014/main" id="{2CE53331-6C47-4A0C-8208-F7182E5217A8}"/>
              </a:ext>
            </a:extLst>
          </p:cNvPr>
          <p:cNvSpPr>
            <a:spLocks xmlns:a="http://schemas.openxmlformats.org/drawingml/2006/main" noGrp="1"/>
          </p:cNvSpPr>
          <p:nvPr/>
        </p:nvSpPr>
        <p:spPr>
          <a:xfrm xmlns:a="http://schemas.openxmlformats.org/drawingml/2006/main">
            <a:off x="8610600" y="20002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l">
              <a:defRPr sz="2025" b="1">
                <a:solidFill>
                  <a:srgbClr val="1E2925"/>
                </a:solidFill>
                <a:latin typeface="Helvetica Neue"/>
                <a:ea typeface="Helvetica Neue"/>
                <a:cs typeface="Helvetica Neue"/>
              </a:defRPr>
            </a:pPr>
            <a:r>
              <a:rPr sz="2025" b="1">
                <a:solidFill>
                  <a:srgbClr val="1E2925"/>
                </a:solidFill>
                <a:latin typeface="Helvetica Neue"/>
                <a:ea typeface="Helvetica Neue"/>
                <a:cs typeface="Helvetica Neue"/>
              </a:rPr>
              <a:t>WRITE MCP SÜRECİ</a:t>
            </a:r>
          </a:p>
        </p:txBody>
      </p:sp>
      <p:sp>
        <p:nvSpPr>
          <p:cNvPr id="23" name="">
            <a:extLst xmlns:a="http://schemas.openxmlformats.org/drawingml/2006/main">
              <a:ext uri="{FF2B5EF4-FFF2-40B4-BE49-F238E27FC236}">
                <a16:creationId xmlns:a16="http://schemas.microsoft.com/office/drawing/2014/main" id="{F3AD46F5-CC42-426B-AF55-B005FCB4978C}"/>
              </a:ext>
            </a:extLst>
          </p:cNvPr>
          <p:cNvSpPr>
            <a:spLocks xmlns:a="http://schemas.openxmlformats.org/drawingml/2006/main" noGrp="1"/>
          </p:cNvSpPr>
          <p:nvPr/>
        </p:nvSpPr>
        <p:spPr>
          <a:xfrm xmlns:a="http://schemas.openxmlformats.org/drawingml/2006/main">
            <a:off x="8610600" y="2447925"/>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yalnızca spot işlem</a:t>
            </a:r>
          </a:p>
        </p:txBody>
      </p:sp>
      <p:sp>
        <p:nvSpPr>
          <p:cNvPr id="24" name="">
            <a:extLst xmlns:a="http://schemas.openxmlformats.org/drawingml/2006/main">
              <a:ext uri="{FF2B5EF4-FFF2-40B4-BE49-F238E27FC236}">
                <a16:creationId xmlns:a16="http://schemas.microsoft.com/office/drawing/2014/main" id="{0AF16F22-5DB1-4024-B513-26618B5DE13A}"/>
              </a:ext>
            </a:extLst>
          </p:cNvPr>
          <p:cNvSpPr>
            <a:spLocks xmlns:a="http://schemas.openxmlformats.org/drawingml/2006/main" noGrp="1"/>
          </p:cNvSpPr>
          <p:nvPr/>
        </p:nvSpPr>
        <p:spPr>
          <a:xfrm xmlns:a="http://schemas.openxmlformats.org/drawingml/2006/main">
            <a:off x="8610600" y="3038475"/>
            <a:ext cx="2419350" cy="266700"/>
          </a:xfrm>
          <a:prstGeom xmlns:a="http://schemas.openxmlformats.org/drawingml/2006/main" prst="roundRect">
            <a:avLst>
              <a:gd name="adj" fmla="val 28571"/>
            </a:avLst>
          </a:prstGeom>
          <a:solidFill xmlns:a="http://schemas.openxmlformats.org/drawingml/2006/main">
            <a:srgbClr val="F7EED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433A422-3DB0-4D1E-AD26-61E53F6DD3CA}"/>
              </a:ext>
            </a:extLst>
          </p:cNvPr>
          <p:cNvSpPr>
            <a:spLocks xmlns:a="http://schemas.openxmlformats.org/drawingml/2006/main" noGrp="1"/>
          </p:cNvSpPr>
          <p:nvPr/>
        </p:nvSpPr>
        <p:spPr>
          <a:xfrm xmlns:a="http://schemas.openxmlformats.org/drawingml/2006/main">
            <a:off x="8705850" y="3057525"/>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B47A2F"/>
                </a:solidFill>
                <a:latin typeface="Helvetica Neue"/>
                <a:ea typeface="Helvetica Neue"/>
                <a:cs typeface="Helvetica Neue"/>
              </a:defRPr>
            </a:pPr>
            <a:r>
              <a:rPr sz="975" b="1">
                <a:solidFill>
                  <a:srgbClr val="B47A2F"/>
                </a:solidFill>
                <a:latin typeface="Helvetica Neue"/>
                <a:ea typeface="Helvetica Neue"/>
                <a:cs typeface="Helvetica Neue"/>
              </a:rPr>
              <a:t>YALNIZCA EXECUTIONENGINE</a:t>
            </a:r>
          </a:p>
        </p:txBody>
      </p:sp>
      <p:sp>
        <p:nvSpPr>
          <p:cNvPr id="26" name="">
            <a:extLst xmlns:a="http://schemas.openxmlformats.org/drawingml/2006/main">
              <a:ext uri="{FF2B5EF4-FFF2-40B4-BE49-F238E27FC236}">
                <a16:creationId xmlns:a16="http://schemas.microsoft.com/office/drawing/2014/main" id="{0F806828-9420-45B7-980B-880C420AFC21}"/>
              </a:ext>
            </a:extLst>
          </p:cNvPr>
          <p:cNvSpPr>
            <a:spLocks xmlns:a="http://schemas.openxmlformats.org/drawingml/2006/main" noGrp="1"/>
          </p:cNvSpPr>
          <p:nvPr/>
        </p:nvSpPr>
        <p:spPr>
          <a:xfrm xmlns:a="http://schemas.openxmlformats.org/drawingml/2006/main">
            <a:off x="8610600" y="3514725"/>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LLM için yazma yetkisi yok</a:t>
            </a:r>
          </a:p>
        </p:txBody>
      </p:sp>
      <p:sp>
        <p:nvSpPr>
          <p:cNvPr id="27" name="">
            <a:extLst xmlns:a="http://schemas.openxmlformats.org/drawingml/2006/main">
              <a:ext uri="{FF2B5EF4-FFF2-40B4-BE49-F238E27FC236}">
                <a16:creationId xmlns:a16="http://schemas.microsoft.com/office/drawing/2014/main" id="{5A9BF4EC-D1BA-4715-BD48-5554ED3D5749}"/>
              </a:ext>
            </a:extLst>
          </p:cNvPr>
          <p:cNvSpPr>
            <a:spLocks xmlns:a="http://schemas.openxmlformats.org/drawingml/2006/main" noGrp="1"/>
          </p:cNvSpPr>
          <p:nvPr/>
        </p:nvSpPr>
        <p:spPr>
          <a:xfrm xmlns:a="http://schemas.openxmlformats.org/drawingml/2006/main">
            <a:off x="590550" y="4800600"/>
            <a:ext cx="11010900" cy="1295400"/>
          </a:xfrm>
          <a:prstGeom xmlns:a="http://schemas.openxmlformats.org/drawingml/2006/main" prst="roundRect">
            <a:avLst>
              <a:gd name="adj" fmla="val 5882"/>
            </a:avLst>
          </a:prstGeom>
          <a:solidFill xmlns:a="http://schemas.openxmlformats.org/drawingml/2006/main">
            <a:srgbClr val="E6F0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00519EB-8AB0-48BB-9984-F192128B27BC}"/>
              </a:ext>
            </a:extLst>
          </p:cNvPr>
          <p:cNvSpPr>
            <a:spLocks xmlns:a="http://schemas.openxmlformats.org/drawingml/2006/main" noGrp="1"/>
          </p:cNvSpPr>
          <p:nvPr/>
        </p:nvSpPr>
        <p:spPr>
          <a:xfrm xmlns:a="http://schemas.openxmlformats.org/drawingml/2006/main">
            <a:off x="800100" y="4981575"/>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TEK YÖNETİLEN POZİSYON</a:t>
            </a:r>
          </a:p>
        </p:txBody>
      </p:sp>
      <p:sp>
        <p:nvSpPr>
          <p:cNvPr id="29" name="">
            <a:extLst xmlns:a="http://schemas.openxmlformats.org/drawingml/2006/main">
              <a:ext uri="{FF2B5EF4-FFF2-40B4-BE49-F238E27FC236}">
                <a16:creationId xmlns:a16="http://schemas.microsoft.com/office/drawing/2014/main" id="{20C5FADC-AF7C-43B3-8E67-324D99C11E69}"/>
              </a:ext>
            </a:extLst>
          </p:cNvPr>
          <p:cNvSpPr>
            <a:spLocks xmlns:a="http://schemas.openxmlformats.org/drawingml/2006/main" noGrp="1"/>
          </p:cNvSpPr>
          <p:nvPr/>
        </p:nvSpPr>
        <p:spPr>
          <a:xfrm xmlns:a="http://schemas.openxmlformats.org/drawingml/2006/main">
            <a:off x="4591050" y="49815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KÖR TEKRAR YOK</a:t>
            </a:r>
          </a:p>
        </p:txBody>
      </p:sp>
      <p:sp>
        <p:nvSpPr>
          <p:cNvPr id="30" name="">
            <a:extLst xmlns:a="http://schemas.openxmlformats.org/drawingml/2006/main">
              <a:ext uri="{FF2B5EF4-FFF2-40B4-BE49-F238E27FC236}">
                <a16:creationId xmlns:a16="http://schemas.microsoft.com/office/drawing/2014/main" id="{26F5B8A3-C275-4B53-8514-87645D213883}"/>
              </a:ext>
            </a:extLst>
          </p:cNvPr>
          <p:cNvSpPr>
            <a:spLocks xmlns:a="http://schemas.openxmlformats.org/drawingml/2006/main" noGrp="1"/>
          </p:cNvSpPr>
          <p:nvPr/>
        </p:nvSpPr>
        <p:spPr>
          <a:xfrm xmlns:a="http://schemas.openxmlformats.org/drawingml/2006/main">
            <a:off x="7848600" y="498157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BELİRSİZLİK → MUTABAKAT</a:t>
            </a:r>
          </a:p>
        </p:txBody>
      </p:sp>
      <p:sp>
        <p:nvSpPr>
          <p:cNvPr id="31" name="">
            <a:extLst xmlns:a="http://schemas.openxmlformats.org/drawingml/2006/main">
              <a:ext uri="{FF2B5EF4-FFF2-40B4-BE49-F238E27FC236}">
                <a16:creationId xmlns:a16="http://schemas.microsoft.com/office/drawing/2014/main" id="{888CDE8D-6B45-42BE-9CD3-34E0D5FE020C}"/>
              </a:ext>
            </a:extLst>
          </p:cNvPr>
          <p:cNvSpPr>
            <a:spLocks xmlns:a="http://schemas.openxmlformats.org/drawingml/2006/main" noGrp="1"/>
          </p:cNvSpPr>
          <p:nvPr/>
        </p:nvSpPr>
        <p:spPr>
          <a:xfrm xmlns:a="http://schemas.openxmlformats.org/drawingml/2006/main">
            <a:off x="800100" y="5495925"/>
            <a:ext cx="1045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E2925"/>
                </a:solidFill>
                <a:latin typeface="Helvetica Neue"/>
                <a:ea typeface="Helvetica Neue"/>
                <a:cs typeface="Helvetica Neue"/>
              </a:defRPr>
            </a:pPr>
            <a:r>
              <a:rPr sz="1350" b="0">
                <a:solidFill>
                  <a:srgbClr val="1E2925"/>
                </a:solidFill>
                <a:latin typeface="Helvetica Neue"/>
                <a:ea typeface="Helvetica Neue"/>
                <a:cs typeface="Helvetica Neue"/>
              </a:rPr>
              <a:t>Yönetilmeyen cüzdan varlığı ayrıdır. LLM kesintisi yeni girişleri durdurur; koruma kuralları deterministiktir.</a:t>
            </a:r>
          </a:p>
        </p:txBody>
      </p:sp>
    </p:spTree>
    <p:extLst>
      <p:ext uri="{BB962C8B-B14F-4D97-AF65-F5344CB8AC3E}">
        <p14:creationId xmlns:p14="http://schemas.microsoft.com/office/powerpoint/2010/main" val="2145570600"/>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7753D37-B594-4270-8370-2477DADAB89F}"/>
              </a:ext>
            </a:extLst>
          </p:cNvPr>
          <p:cNvSpPr>
            <a:spLocks xmlns:a="http://schemas.openxmlformats.org/drawingml/2006/main" noGrp="1"/>
          </p:cNvSpPr>
          <p:nvPr/>
        </p:nvSpPr>
        <p:spPr>
          <a:xfrm xmlns:a="http://schemas.openxmlformats.org/drawingml/2006/main">
            <a:off x="5905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47745C"/>
                </a:solidFill>
                <a:latin typeface="Helvetica Neue"/>
                <a:ea typeface="Helvetica Neue"/>
                <a:cs typeface="Helvetica Neue"/>
              </a:defRPr>
            </a:pPr>
            <a:r>
              <a:rPr sz="1125" b="1">
                <a:solidFill>
                  <a:srgbClr val="47745C"/>
                </a:solidFill>
                <a:latin typeface="Helvetica Neue"/>
                <a:ea typeface="Helvetica Neue"/>
                <a:cs typeface="Helvetica Neue"/>
              </a:rPr>
              <a:t>05  /  WHY AURA</a:t>
            </a:r>
          </a:p>
        </p:txBody>
      </p:sp>
      <p:sp>
        <p:nvSpPr>
          <p:cNvPr id="2" name="">
            <a:extLst xmlns:a="http://schemas.openxmlformats.org/drawingml/2006/main">
              <a:ext uri="{FF2B5EF4-FFF2-40B4-BE49-F238E27FC236}">
                <a16:creationId xmlns:a16="http://schemas.microsoft.com/office/drawing/2014/main" id="{0CC5744D-1CFA-42C3-BD5C-9A0A9CEA618C}"/>
              </a:ext>
            </a:extLst>
          </p:cNvPr>
          <p:cNvSpPr>
            <a:spLocks xmlns:a="http://schemas.openxmlformats.org/drawingml/2006/main" noGrp="1"/>
          </p:cNvSpPr>
          <p:nvPr/>
        </p:nvSpPr>
        <p:spPr>
          <a:xfrm xmlns:a="http://schemas.openxmlformats.org/drawingml/2006/main">
            <a:off x="590550" y="6667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p xmlns:a="http://schemas.openxmlformats.org/drawingml/2006/main">
            <a:pPr algn="l">
              <a:defRPr sz="3150" b="1">
                <a:solidFill>
                  <a:srgbClr val="1E2925"/>
                </a:solidFill>
                <a:latin typeface="Helvetica Neue"/>
                <a:ea typeface="Helvetica Neue"/>
                <a:cs typeface="Helvetica Neue"/>
              </a:defRPr>
            </a:pPr>
            <a:r>
              <a:rPr sz="3150" b="1">
                <a:solidFill>
                  <a:srgbClr val="1E2925"/>
                </a:solidFill>
                <a:latin typeface="Helvetica Neue"/>
                <a:ea typeface="Helvetica Neue"/>
                <a:cs typeface="Helvetica Neue"/>
              </a:rPr>
              <a:t>Sınırları belli otonomi</a:t>
            </a:r>
          </a:p>
        </p:txBody>
      </p:sp>
      <p:sp>
        <p:nvSpPr>
          <p:cNvPr id="3" name="">
            <a:extLst xmlns:a="http://schemas.openxmlformats.org/drawingml/2006/main">
              <a:ext uri="{FF2B5EF4-FFF2-40B4-BE49-F238E27FC236}">
                <a16:creationId xmlns:a16="http://schemas.microsoft.com/office/drawing/2014/main" id="{C1CE329B-1034-44FB-8235-941097C1B06D}"/>
              </a:ext>
            </a:extLst>
          </p:cNvPr>
          <p:cNvSpPr>
            <a:spLocks xmlns:a="http://schemas.openxmlformats.org/drawingml/2006/main" noGrp="1"/>
          </p:cNvSpPr>
          <p:nvPr/>
        </p:nvSpPr>
        <p:spPr>
          <a:xfrm xmlns:a="http://schemas.openxmlformats.org/drawingml/2006/main">
            <a:off x="609600" y="11906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7736D"/>
                </a:solidFill>
                <a:latin typeface="Helvetica Neue"/>
                <a:ea typeface="Helvetica Neue"/>
                <a:cs typeface="Helvetica Neue"/>
              </a:defRPr>
            </a:pPr>
            <a:r>
              <a:rPr sz="1350" b="0">
                <a:solidFill>
                  <a:srgbClr val="67736D"/>
                </a:solidFill>
                <a:latin typeface="Helvetica Neue"/>
                <a:ea typeface="Helvetica Neue"/>
                <a:cs typeface="Helvetica Neue"/>
              </a:rPr>
              <a:t>Güven, reddedilen işlemleri de açıklayabilmekle başlar.</a:t>
            </a:r>
          </a:p>
        </p:txBody>
      </p:sp>
      <p:sp>
        <p:nvSpPr>
          <p:cNvPr id="4" name="">
            <a:extLst xmlns:a="http://schemas.openxmlformats.org/drawingml/2006/main">
              <a:ext uri="{FF2B5EF4-FFF2-40B4-BE49-F238E27FC236}">
                <a16:creationId xmlns:a16="http://schemas.microsoft.com/office/drawing/2014/main" id="{ABFC3273-862A-4F2F-8DCF-9EF7BE56F4C9}"/>
              </a:ext>
            </a:extLst>
          </p:cNvPr>
          <p:cNvSpPr>
            <a:spLocks xmlns:a="http://schemas.openxmlformats.org/drawingml/2006/main" noGrp="1"/>
          </p:cNvSpPr>
          <p:nvPr/>
        </p:nvSpPr>
        <p:spPr>
          <a:xfrm xmlns:a="http://schemas.openxmlformats.org/drawingml/2006/main">
            <a:off x="590550" y="6448425"/>
            <a:ext cx="11010900" cy="9525"/>
          </a:xfrm>
          <a:prstGeom xmlns:a="http://schemas.openxmlformats.org/drawingml/2006/main" prst="rect">
            <a:avLst/>
          </a:prstGeom>
          <a:solidFill xmlns:a="http://schemas.openxmlformats.org/drawingml/2006/main">
            <a:srgbClr val="D9DF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281157-5AAD-4E1D-887F-6B6C225CFAD3}"/>
              </a:ext>
            </a:extLst>
          </p:cNvPr>
          <p:cNvSpPr>
            <a:spLocks xmlns:a="http://schemas.openxmlformats.org/drawingml/2006/main" noGrp="1"/>
          </p:cNvSpPr>
          <p:nvPr/>
        </p:nvSpPr>
        <p:spPr>
          <a:xfrm xmlns:a="http://schemas.openxmlformats.org/drawingml/2006/main">
            <a:off x="59055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l">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AURA  /  OKX AGENT TRADE KIT</a:t>
            </a:r>
          </a:p>
        </p:txBody>
      </p:sp>
      <p:sp>
        <p:nvSpPr>
          <p:cNvPr id="6" name="">
            <a:extLst xmlns:a="http://schemas.openxmlformats.org/drawingml/2006/main">
              <a:ext uri="{FF2B5EF4-FFF2-40B4-BE49-F238E27FC236}">
                <a16:creationId xmlns:a16="http://schemas.microsoft.com/office/drawing/2014/main" id="{F36CF3EB-2546-4D98-BBF5-ED7A7B0BF6D6}"/>
              </a:ext>
            </a:extLst>
          </p:cNvPr>
          <p:cNvSpPr>
            <a:spLocks xmlns:a="http://schemas.openxmlformats.org/drawingml/2006/main" noGrp="1"/>
          </p:cNvSpPr>
          <p:nvPr/>
        </p:nvSpPr>
        <p:spPr>
          <a:xfrm xmlns:a="http://schemas.openxmlformats.org/drawingml/2006/main">
            <a:off x="10763250" y="6515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p xmlns:a="http://schemas.openxmlformats.org/drawingml/2006/main">
            <a:pPr algn="r">
              <a:defRPr sz="825" b="1">
                <a:solidFill>
                  <a:srgbClr val="67736D"/>
                </a:solidFill>
                <a:latin typeface="Helvetica Neue"/>
                <a:ea typeface="Helvetica Neue"/>
                <a:cs typeface="Helvetica Neue"/>
              </a:defRPr>
            </a:pPr>
            <a:r>
              <a:rPr sz="825" b="1">
                <a:solidFill>
                  <a:srgbClr val="67736D"/>
                </a:solidFill>
                <a:latin typeface="Helvetica Neue"/>
                <a:ea typeface="Helvetica Neue"/>
                <a:cs typeface="Helvetica Neue"/>
              </a:rPr>
              <a:t>5 / 5</a:t>
            </a:r>
          </a:p>
        </p:txBody>
      </p:sp>
      <p:sp>
        <p:nvSpPr>
          <p:cNvPr id="7" name="">
            <a:extLst xmlns:a="http://schemas.openxmlformats.org/drawingml/2006/main">
              <a:ext uri="{FF2B5EF4-FFF2-40B4-BE49-F238E27FC236}">
                <a16:creationId xmlns:a16="http://schemas.microsoft.com/office/drawing/2014/main" id="{10C04019-5744-4FDA-84AA-96C2842419F9}"/>
              </a:ext>
            </a:extLst>
          </p:cNvPr>
          <p:cNvSpPr>
            <a:spLocks xmlns:a="http://schemas.openxmlformats.org/drawingml/2006/main" noGrp="1"/>
          </p:cNvSpPr>
          <p:nvPr/>
        </p:nvSpPr>
        <p:spPr>
          <a:xfrm xmlns:a="http://schemas.openxmlformats.org/drawingml/2006/main">
            <a:off x="590550" y="1866900"/>
            <a:ext cx="3524250" cy="2000250"/>
          </a:xfrm>
          <a:prstGeom xmlns:a="http://schemas.openxmlformats.org/drawingml/2006/main" prst="roundRect">
            <a:avLst>
              <a:gd name="adj" fmla="val 3810"/>
            </a:avLst>
          </a:prstGeom>
          <a:solidFill xmlns:a="http://schemas.openxmlformats.org/drawingml/2006/main">
            <a:srgbClr val="FFFEFA"/>
          </a:solidFill>
          <a:ln xmlns:a="http://schemas.openxmlformats.org/drawingml/2006/main" w="9525">
            <a:solidFill>
              <a:srgbClr val="D9DFD5"/>
            </a:solidFill>
            <a:prstDash val="solid"/>
          </a:ln>
        </p:spPr>
      </p:sp>
      <p:sp>
        <p:nvSpPr>
          <p:cNvPr id="8" name="">
            <a:extLst xmlns:a="http://schemas.openxmlformats.org/drawingml/2006/main">
              <a:ext uri="{FF2B5EF4-FFF2-40B4-BE49-F238E27FC236}">
                <a16:creationId xmlns:a16="http://schemas.microsoft.com/office/drawing/2014/main" id="{0C0B6E36-B56A-41BD-804B-2B3A55D0D911}"/>
              </a:ext>
            </a:extLst>
          </p:cNvPr>
          <p:cNvSpPr>
            <a:spLocks xmlns:a="http://schemas.openxmlformats.org/drawingml/2006/main" noGrp="1"/>
          </p:cNvSpPr>
          <p:nvPr/>
        </p:nvSpPr>
        <p:spPr>
          <a:xfrm xmlns:a="http://schemas.openxmlformats.org/drawingml/2006/main">
            <a:off x="81915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CA890F09-FE36-443F-9169-B34E510E24B6}"/>
              </a:ext>
            </a:extLst>
          </p:cNvPr>
          <p:cNvSpPr>
            <a:spLocks xmlns:a="http://schemas.openxmlformats.org/drawingml/2006/main" noGrp="1"/>
          </p:cNvSpPr>
          <p:nvPr/>
        </p:nvSpPr>
        <p:spPr>
          <a:xfrm xmlns:a="http://schemas.openxmlformats.org/drawingml/2006/main">
            <a:off x="81915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1E2925"/>
                </a:solidFill>
                <a:latin typeface="Helvetica Neue"/>
                <a:ea typeface="Helvetica Neue"/>
                <a:cs typeface="Helvetica Neue"/>
              </a:defRPr>
            </a:pPr>
            <a:r>
              <a:rPr sz="1725" b="1">
                <a:solidFill>
                  <a:srgbClr val="1E2925"/>
                </a:solidFill>
                <a:latin typeface="Helvetica Neue"/>
                <a:ea typeface="Helvetica Neue"/>
                <a:cs typeface="Helvetica Neue"/>
              </a:rPr>
              <a:t>SINIRLI YAPAY ZEKÂ</a:t>
            </a:r>
          </a:p>
        </p:txBody>
      </p:sp>
      <p:sp>
        <p:nvSpPr>
          <p:cNvPr id="10" name="">
            <a:extLst xmlns:a="http://schemas.openxmlformats.org/drawingml/2006/main">
              <a:ext uri="{FF2B5EF4-FFF2-40B4-BE49-F238E27FC236}">
                <a16:creationId xmlns:a16="http://schemas.microsoft.com/office/drawing/2014/main" id="{D5C6B271-C946-4679-9AA7-8D13A32A50E6}"/>
              </a:ext>
            </a:extLst>
          </p:cNvPr>
          <p:cNvSpPr>
            <a:spLocks xmlns:a="http://schemas.openxmlformats.org/drawingml/2006/main" noGrp="1"/>
          </p:cNvSpPr>
          <p:nvPr/>
        </p:nvSpPr>
        <p:spPr>
          <a:xfrm xmlns:a="http://schemas.openxmlformats.org/drawingml/2006/main">
            <a:off x="81915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LLM işlem tezini sorgular.</a:t>
            </a:r>
          </a:p>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Alım-satım yetkisi onda değildir.</a:t>
            </a:r>
          </a:p>
        </p:txBody>
      </p:sp>
      <p:sp>
        <p:nvSpPr>
          <p:cNvPr id="11" name="">
            <a:extLst xmlns:a="http://schemas.openxmlformats.org/drawingml/2006/main">
              <a:ext uri="{FF2B5EF4-FFF2-40B4-BE49-F238E27FC236}">
                <a16:creationId xmlns:a16="http://schemas.microsoft.com/office/drawing/2014/main" id="{56BB58BF-4092-4FF7-BA70-C3CE69B95486}"/>
              </a:ext>
            </a:extLst>
          </p:cNvPr>
          <p:cNvSpPr>
            <a:spLocks xmlns:a="http://schemas.openxmlformats.org/drawingml/2006/main" noGrp="1"/>
          </p:cNvSpPr>
          <p:nvPr/>
        </p:nvSpPr>
        <p:spPr>
          <a:xfrm xmlns:a="http://schemas.openxmlformats.org/drawingml/2006/main">
            <a:off x="4305300" y="1866900"/>
            <a:ext cx="3524250" cy="2000250"/>
          </a:xfrm>
          <a:prstGeom xmlns:a="http://schemas.openxmlformats.org/drawingml/2006/main" prst="roundRect">
            <a:avLst>
              <a:gd name="adj" fmla="val 3810"/>
            </a:avLst>
          </a:prstGeom>
          <a:solidFill xmlns:a="http://schemas.openxmlformats.org/drawingml/2006/main">
            <a:srgbClr val="16231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0E0C980-EEA7-4D09-A869-2290581CF500}"/>
              </a:ext>
            </a:extLst>
          </p:cNvPr>
          <p:cNvSpPr>
            <a:spLocks xmlns:a="http://schemas.openxmlformats.org/drawingml/2006/main" noGrp="1"/>
          </p:cNvSpPr>
          <p:nvPr/>
        </p:nvSpPr>
        <p:spPr>
          <a:xfrm xmlns:a="http://schemas.openxmlformats.org/drawingml/2006/main">
            <a:off x="453390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E6F0E7"/>
                </a:solidFill>
                <a:latin typeface="Helvetica Neue"/>
                <a:ea typeface="Helvetica Neue"/>
                <a:cs typeface="Helvetica Neue"/>
              </a:defRPr>
            </a:pPr>
            <a:r>
              <a:rPr sz="1950" b="1">
                <a:solidFill>
                  <a:srgbClr val="E6F0E7"/>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55803E59-7E90-464F-99BC-9DE2BB42A1B5}"/>
              </a:ext>
            </a:extLst>
          </p:cNvPr>
          <p:cNvSpPr>
            <a:spLocks xmlns:a="http://schemas.openxmlformats.org/drawingml/2006/main" noGrp="1"/>
          </p:cNvSpPr>
          <p:nvPr/>
        </p:nvSpPr>
        <p:spPr>
          <a:xfrm xmlns:a="http://schemas.openxmlformats.org/drawingml/2006/main">
            <a:off x="453390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DETERMİNİSTİK GÜVENLİK</a:t>
            </a:r>
          </a:p>
        </p:txBody>
      </p:sp>
      <p:sp>
        <p:nvSpPr>
          <p:cNvPr id="14" name="">
            <a:extLst xmlns:a="http://schemas.openxmlformats.org/drawingml/2006/main">
              <a:ext uri="{FF2B5EF4-FFF2-40B4-BE49-F238E27FC236}">
                <a16:creationId xmlns:a16="http://schemas.microsoft.com/office/drawing/2014/main" id="{92C83F7C-43B1-47ED-8AC7-AE31D4AFA258}"/>
              </a:ext>
            </a:extLst>
          </p:cNvPr>
          <p:cNvSpPr>
            <a:spLocks xmlns:a="http://schemas.openxmlformats.org/drawingml/2006/main" noGrp="1"/>
          </p:cNvSpPr>
          <p:nvPr/>
        </p:nvSpPr>
        <p:spPr>
          <a:xfrm xmlns:a="http://schemas.openxmlformats.org/drawingml/2006/main">
            <a:off x="453390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32"/>
          </a:bodyPr>
          <a:lstStyle xmlns:a="http://schemas.openxmlformats.org/drawingml/2006/main"/>
          <a:p xmlns:a="http://schemas.openxmlformats.org/drawingml/2006/main">
            <a:pPr algn="l">
              <a:defRPr sz="1275" b="0">
                <a:solidFill>
                  <a:srgbClr val="9FB1A6"/>
                </a:solidFill>
                <a:latin typeface="Helvetica Neue"/>
                <a:ea typeface="Helvetica Neue"/>
                <a:cs typeface="Helvetica Neue"/>
              </a:defRPr>
            </a:pPr>
            <a:r>
              <a:rPr sz="1275" b="0">
                <a:solidFill>
                  <a:srgbClr val="9FB1A6"/>
                </a:solidFill>
                <a:latin typeface="Helvetica Neue"/>
                <a:ea typeface="Helvetica Neue"/>
                <a:cs typeface="Helvetica Neue"/>
              </a:rPr>
              <a:t>Sermayenin kullanılıp kullanılmayacağına</a:t>
            </a:r>
          </a:p>
          <a:p xmlns:a="http://schemas.openxmlformats.org/drawingml/2006/main">
            <a:pPr algn="l">
              <a:defRPr sz="1275" b="0">
                <a:solidFill>
                  <a:srgbClr val="9FB1A6"/>
                </a:solidFill>
                <a:latin typeface="Helvetica Neue"/>
                <a:ea typeface="Helvetica Neue"/>
                <a:cs typeface="Helvetica Neue"/>
              </a:defRPr>
            </a:pPr>
            <a:r>
              <a:rPr sz="1275" b="0">
                <a:solidFill>
                  <a:srgbClr val="9FB1A6"/>
                </a:solidFill>
                <a:latin typeface="Helvetica Neue"/>
                <a:ea typeface="Helvetica Neue"/>
                <a:cs typeface="Helvetica Neue"/>
              </a:rPr>
              <a:t>kesin risk kuralları karar verir.</a:t>
            </a:r>
          </a:p>
        </p:txBody>
      </p:sp>
      <p:sp>
        <p:nvSpPr>
          <p:cNvPr id="15" name="">
            <a:extLst xmlns:a="http://schemas.openxmlformats.org/drawingml/2006/main">
              <a:ext uri="{FF2B5EF4-FFF2-40B4-BE49-F238E27FC236}">
                <a16:creationId xmlns:a16="http://schemas.microsoft.com/office/drawing/2014/main" id="{B61135D9-5121-497F-AA37-831E54A1A707}"/>
              </a:ext>
            </a:extLst>
          </p:cNvPr>
          <p:cNvSpPr>
            <a:spLocks xmlns:a="http://schemas.openxmlformats.org/drawingml/2006/main" noGrp="1"/>
          </p:cNvSpPr>
          <p:nvPr/>
        </p:nvSpPr>
        <p:spPr>
          <a:xfrm xmlns:a="http://schemas.openxmlformats.org/drawingml/2006/main">
            <a:off x="8020050" y="1866900"/>
            <a:ext cx="3524250" cy="2000250"/>
          </a:xfrm>
          <a:prstGeom xmlns:a="http://schemas.openxmlformats.org/drawingml/2006/main" prst="roundRect">
            <a:avLst>
              <a:gd name="adj" fmla="val 3810"/>
            </a:avLst>
          </a:prstGeom>
          <a:solidFill xmlns:a="http://schemas.openxmlformats.org/drawingml/2006/main">
            <a:srgbClr val="FFFEFA"/>
          </a:solidFill>
          <a:ln xmlns:a="http://schemas.openxmlformats.org/drawingml/2006/main" w="9525">
            <a:solidFill>
              <a:srgbClr val="D9DFD5"/>
            </a:solidFill>
            <a:prstDash val="solid"/>
          </a:ln>
        </p:spPr>
      </p:sp>
      <p:sp>
        <p:nvSpPr>
          <p:cNvPr id="16" name="">
            <a:extLst xmlns:a="http://schemas.openxmlformats.org/drawingml/2006/main">
              <a:ext uri="{FF2B5EF4-FFF2-40B4-BE49-F238E27FC236}">
                <a16:creationId xmlns:a16="http://schemas.microsoft.com/office/drawing/2014/main" id="{991E9900-E82A-4EE1-B5B4-0AE1E7189E53}"/>
              </a:ext>
            </a:extLst>
          </p:cNvPr>
          <p:cNvSpPr>
            <a:spLocks xmlns:a="http://schemas.openxmlformats.org/drawingml/2006/main" noGrp="1"/>
          </p:cNvSpPr>
          <p:nvPr/>
        </p:nvSpPr>
        <p:spPr>
          <a:xfrm xmlns:a="http://schemas.openxmlformats.org/drawingml/2006/main">
            <a:off x="8248650" y="20859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47745C"/>
                </a:solidFill>
                <a:latin typeface="Helvetica Neue"/>
                <a:ea typeface="Helvetica Neue"/>
                <a:cs typeface="Helvetica Neue"/>
              </a:defRPr>
            </a:pPr>
            <a:r>
              <a:rPr sz="1950" b="1">
                <a:solidFill>
                  <a:srgbClr val="47745C"/>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10DF2DF6-C4A9-44A2-A90D-E3E21E4E1AB2}"/>
              </a:ext>
            </a:extLst>
          </p:cNvPr>
          <p:cNvSpPr>
            <a:spLocks xmlns:a="http://schemas.openxmlformats.org/drawingml/2006/main" noGrp="1"/>
          </p:cNvSpPr>
          <p:nvPr/>
        </p:nvSpPr>
        <p:spPr>
          <a:xfrm xmlns:a="http://schemas.openxmlformats.org/drawingml/2006/main">
            <a:off x="8248650" y="2533650"/>
            <a:ext cx="3124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83"/>
          </a:bodyPr>
          <a:lstStyle xmlns:a="http://schemas.openxmlformats.org/drawingml/2006/main"/>
          <a:p xmlns:a="http://schemas.openxmlformats.org/drawingml/2006/main">
            <a:pPr algn="l">
              <a:defRPr sz="1725" b="1">
                <a:solidFill>
                  <a:srgbClr val="1E2925"/>
                </a:solidFill>
                <a:latin typeface="Helvetica Neue"/>
                <a:ea typeface="Helvetica Neue"/>
                <a:cs typeface="Helvetica Neue"/>
              </a:defRPr>
            </a:pPr>
            <a:r>
              <a:rPr sz="1725" b="1">
                <a:solidFill>
                  <a:srgbClr val="1E2925"/>
                </a:solidFill>
                <a:latin typeface="Helvetica Neue"/>
                <a:ea typeface="Helvetica Neue"/>
                <a:cs typeface="Helvetica Neue"/>
              </a:rPr>
              <a:t>AÇIKLANABİLİR OTONOMİ</a:t>
            </a:r>
          </a:p>
        </p:txBody>
      </p:sp>
      <p:sp>
        <p:nvSpPr>
          <p:cNvPr id="18" name="">
            <a:extLst xmlns:a="http://schemas.openxmlformats.org/drawingml/2006/main">
              <a:ext uri="{FF2B5EF4-FFF2-40B4-BE49-F238E27FC236}">
                <a16:creationId xmlns:a16="http://schemas.microsoft.com/office/drawing/2014/main" id="{F8AEE81D-8460-460A-8237-EF51FC1AB850}"/>
              </a:ext>
            </a:extLst>
          </p:cNvPr>
          <p:cNvSpPr>
            <a:spLocks xmlns:a="http://schemas.openxmlformats.org/drawingml/2006/main" noGrp="1"/>
          </p:cNvSpPr>
          <p:nvPr/>
        </p:nvSpPr>
        <p:spPr>
          <a:xfrm xmlns:a="http://schemas.openxmlformats.org/drawingml/2006/main">
            <a:off x="8248650" y="2962275"/>
            <a:ext cx="308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Kanıt, ret gerekçesi ve MCP çağrıları</a:t>
            </a:r>
          </a:p>
          <a:p xmlns:a="http://schemas.openxmlformats.org/drawingml/2006/main">
            <a:pPr algn="l">
              <a:defRPr sz="1275" b="0">
                <a:solidFill>
                  <a:srgbClr val="67736D"/>
                </a:solidFill>
                <a:latin typeface="Helvetica Neue"/>
                <a:ea typeface="Helvetica Neue"/>
                <a:cs typeface="Helvetica Neue"/>
              </a:defRPr>
            </a:pPr>
            <a:r>
              <a:rPr sz="1275" b="0">
                <a:solidFill>
                  <a:srgbClr val="67736D"/>
                </a:solidFill>
                <a:latin typeface="Helvetica Neue"/>
                <a:ea typeface="Helvetica Neue"/>
                <a:cs typeface="Helvetica Neue"/>
              </a:rPr>
              <a:t>incelenebilir.</a:t>
            </a:r>
          </a:p>
        </p:txBody>
      </p:sp>
      <p:sp>
        <p:nvSpPr>
          <p:cNvPr id="19" name="">
            <a:extLst xmlns:a="http://schemas.openxmlformats.org/drawingml/2006/main">
              <a:ext uri="{FF2B5EF4-FFF2-40B4-BE49-F238E27FC236}">
                <a16:creationId xmlns:a16="http://schemas.microsoft.com/office/drawing/2014/main" id="{DB4A4C51-2CD6-452D-8958-07407D158937}"/>
              </a:ext>
            </a:extLst>
          </p:cNvPr>
          <p:cNvSpPr>
            <a:spLocks xmlns:a="http://schemas.openxmlformats.org/drawingml/2006/main" noGrp="1"/>
          </p:cNvSpPr>
          <p:nvPr/>
        </p:nvSpPr>
        <p:spPr>
          <a:xfrm xmlns:a="http://schemas.openxmlformats.org/drawingml/2006/main">
            <a:off x="590550" y="4181475"/>
            <a:ext cx="11010900" cy="552450"/>
          </a:xfrm>
          <a:prstGeom xmlns:a="http://schemas.openxmlformats.org/drawingml/2006/main" prst="roundRect">
            <a:avLst>
              <a:gd name="adj" fmla="val 13793"/>
            </a:avLst>
          </a:prstGeom>
          <a:solidFill xmlns:a="http://schemas.openxmlformats.org/drawingml/2006/main">
            <a:srgbClr val="E6F0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59C9937-5954-4D48-BCCE-48B194C28B78}"/>
              </a:ext>
            </a:extLst>
          </p:cNvPr>
          <p:cNvSpPr>
            <a:spLocks xmlns:a="http://schemas.openxmlformats.org/drawingml/2006/main" noGrp="1"/>
          </p:cNvSpPr>
          <p:nvPr/>
        </p:nvSpPr>
        <p:spPr>
          <a:xfrm xmlns:a="http://schemas.openxmlformats.org/drawingml/2006/main">
            <a:off x="781050" y="4305300"/>
            <a:ext cx="1059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7745C"/>
                </a:solidFill>
                <a:latin typeface="Helvetica Neue"/>
                <a:ea typeface="Helvetica Neue"/>
                <a:cs typeface="Helvetica Neue"/>
              </a:defRPr>
            </a:pPr>
            <a:r>
              <a:rPr sz="1350" b="1">
                <a:solidFill>
                  <a:srgbClr val="47745C"/>
                </a:solidFill>
                <a:latin typeface="Helvetica Neue"/>
                <a:ea typeface="Helvetica Neue"/>
                <a:cs typeface="Helvetica Neue"/>
              </a:rPr>
              <a:t>BTC + ETH  ·  OKX ATK MCP  ·  Risk Sertifikası  ·  Karar İzi  ·  Read/Write ayrımı</a:t>
            </a:r>
          </a:p>
        </p:txBody>
      </p:sp>
      <p:sp>
        <p:nvSpPr>
          <p:cNvPr id="21" name="">
            <a:extLst xmlns:a="http://schemas.openxmlformats.org/drawingml/2006/main">
              <a:ext uri="{FF2B5EF4-FFF2-40B4-BE49-F238E27FC236}">
                <a16:creationId xmlns:a16="http://schemas.microsoft.com/office/drawing/2014/main" id="{7CE01820-91CF-4626-A0CE-E024436E3F63}"/>
              </a:ext>
            </a:extLst>
          </p:cNvPr>
          <p:cNvSpPr>
            <a:spLocks xmlns:a="http://schemas.openxmlformats.org/drawingml/2006/main" noGrp="1"/>
          </p:cNvSpPr>
          <p:nvPr/>
        </p:nvSpPr>
        <p:spPr>
          <a:xfrm xmlns:a="http://schemas.openxmlformats.org/drawingml/2006/main">
            <a:off x="590550" y="5114925"/>
            <a:ext cx="109347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E2925"/>
                </a:solidFill>
                <a:latin typeface="Helvetica Neue"/>
                <a:ea typeface="Helvetica Neue"/>
                <a:cs typeface="Helvetica Neue"/>
              </a:defRPr>
            </a:pPr>
            <a:r>
              <a:rPr sz="2250" b="1">
                <a:solidFill>
                  <a:srgbClr val="1E2925"/>
                </a:solidFill>
                <a:latin typeface="Helvetica Neue"/>
                <a:ea typeface="Helvetica Neue"/>
                <a:cs typeface="Helvetica Neue"/>
              </a:rPr>
              <a:t>AURA ne zaman işlem yapacağını, ne zaman duracağını</a:t>
            </a:r>
          </a:p>
          <a:p xmlns:a="http://schemas.openxmlformats.org/drawingml/2006/main">
            <a:pPr algn="l">
              <a:defRPr sz="2250" b="1">
                <a:solidFill>
                  <a:srgbClr val="1E2925"/>
                </a:solidFill>
                <a:latin typeface="Helvetica Neue"/>
                <a:ea typeface="Helvetica Neue"/>
                <a:cs typeface="Helvetica Neue"/>
              </a:defRPr>
            </a:pPr>
            <a:r>
              <a:rPr sz="2250" b="1">
                <a:solidFill>
                  <a:srgbClr val="1E2925"/>
                </a:solidFill>
                <a:latin typeface="Helvetica Neue"/>
                <a:ea typeface="Helvetica Neue"/>
                <a:cs typeface="Helvetica Neue"/>
              </a:rPr>
              <a:t>ve ikisini de nasıl açıklayacağını bilir.</a:t>
            </a:r>
          </a:p>
        </p:txBody>
      </p:sp>
    </p:spTree>
    <p:extLst>
      <p:ext uri="{BB962C8B-B14F-4D97-AF65-F5344CB8AC3E}">
        <p14:creationId xmlns:p14="http://schemas.microsoft.com/office/powerpoint/2010/main" val="4079598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2026-09-12T15:14:49.9260000Z</dcterms:created>
  <dcterms:modified xsi:type="dcterms:W3CDTF">2026-09-12T15:14:49.9260000Z</dcterms:modified>
</coreProperties>
</file>