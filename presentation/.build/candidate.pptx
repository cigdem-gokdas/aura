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b2e0cbfe84269" /><Relationship Type="http://schemas.openxmlformats.org/officeDocument/2006/relationships/extended-properties" Target="/docProps/app.xml" Id="R2129b62c32744d84" /><Relationship Type="http://schemas.openxmlformats.org/officeDocument/2006/relationships/officeDocument" Target="/ppt/presentation.xml" Id="Raa78ab91eac143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8bd53700e4aa0"/>
  </p:sldMasterIdLst>
  <p:notesMasterIdLst>
    <p:notesMasterId xmlns:r="http://schemas.openxmlformats.org/officeDocument/2006/relationships" r:id="Rffa53e59940b4c77"/>
  </p:notesMasterIdLst>
  <p:sldIdLst>
    <p:sldId xmlns:r="http://schemas.openxmlformats.org/officeDocument/2006/relationships" id="256" r:id="R8da3deb76b544d6b"/>
    <p:sldId xmlns:r="http://schemas.openxmlformats.org/officeDocument/2006/relationships" id="257" r:id="R62f9dc614cea4f88"/>
    <p:sldId xmlns:r="http://schemas.openxmlformats.org/officeDocument/2006/relationships" id="258" r:id="Rff9ef8b066b94dc9"/>
    <p:sldId xmlns:r="http://schemas.openxmlformats.org/officeDocument/2006/relationships" id="259" r:id="R5367bb203ca34709"/>
    <p:sldId xmlns:r="http://schemas.openxmlformats.org/officeDocument/2006/relationships" id="260" r:id="R05a94e9a160a43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2a37cdb09436e" /><Relationship Type="http://schemas.openxmlformats.org/officeDocument/2006/relationships/slideMaster" Target="/ppt/slideMasters/slideMaster1.xml" Id="Ra038bd53700e4aa0" /><Relationship Type="http://schemas.openxmlformats.org/officeDocument/2006/relationships/notesMaster" Target="/ppt/notesMasters/notesMaster1.xml" Id="Rffa53e59940b4c77" /><Relationship Type="http://schemas.openxmlformats.org/officeDocument/2006/relationships/presProps" Target="/ppt/presProps.xml" Id="Rfbb66444ff314f50" /><Relationship Type="http://schemas.openxmlformats.org/officeDocument/2006/relationships/tableStyles" Target="/ppt/tableStyles.xml" Id="Rf265426fc3724418" /><Relationship Type="http://schemas.openxmlformats.org/officeDocument/2006/relationships/slide" Target="/ppt/slides/slide1.xml" Id="R8da3deb76b544d6b" /><Relationship Type="http://schemas.openxmlformats.org/officeDocument/2006/relationships/slide" Target="/ppt/slides/slide2.xml" Id="R62f9dc614cea4f88" /><Relationship Type="http://schemas.openxmlformats.org/officeDocument/2006/relationships/slide" Target="/ppt/slides/slide3.xml" Id="Rff9ef8b066b94dc9" /><Relationship Type="http://schemas.openxmlformats.org/officeDocument/2006/relationships/slide" Target="/ppt/slides/slide4.xml" Id="R5367bb203ca34709" /><Relationship Type="http://schemas.openxmlformats.org/officeDocument/2006/relationships/slide" Target="/ppt/slides/slide5.xml" Id="R05a94e9a160a43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3ca47afe2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53cec1b05474c" /><Relationship Type="http://schemas.openxmlformats.org/officeDocument/2006/relationships/notesMaster" Target="/ppt/notesMasters/notesMaster1.xml" Id="R311813fe34a042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844b303f26444b" /><Relationship Type="http://schemas.openxmlformats.org/officeDocument/2006/relationships/notesMaster" Target="/ppt/notesMasters/notesMaster1.xml" Id="R5490c6f2f761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8cddd8497d483c" /><Relationship Type="http://schemas.openxmlformats.org/officeDocument/2006/relationships/notesMaster" Target="/ppt/notesMasters/notesMaster1.xml" Id="R082ee1cb824c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c3e1fd06b4142" /><Relationship Type="http://schemas.openxmlformats.org/officeDocument/2006/relationships/notesMaster" Target="/ppt/notesMasters/notesMaster1.xml" Id="R3ea4e9a14325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6b368609ae417d" /><Relationship Type="http://schemas.openxmlformats.org/officeDocument/2006/relationships/notesMaster" Target="/ppt/notesMasters/notesMaster1.xml" Id="R5563485a0df14d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AURA compares BTC-USDT and ETH-USDT for one managed risk budget. A bounded Market Critic challenges the selected setup, but only the deterministic Risk Engine can authorize execution. We built the product to make both action and refusal explainable.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OKX Agent Trade Kit supplies market and account evidence. AURA computes deterministic features and compares two liquid spot markets. The LLM is a critic, never a trader. The Risk Certificate has the final veto. Execution uses the separate write lane, and uncertainty is reconciled rather than retried blindly.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substitutes for the live dashboard. Read it left to right: BTC and ETH are compared for one risk budget; a completed cycle would populate provenance. The Market Critic challenges a selected setup. The Risk Certificate can hold execution, and the trace shows which MCP reads contributed and whether the write lane was used. Position and protection remain explicit; Ask AURA and the read-only Status MCP explain why no trade occurred. This is a representative observe-only state, not a historical screenshot or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 and WRITE lanes are separate MCP client processes with separate authority. The Market Critic only sees read-side evidence. The deterministic Risk Certificate gates execution. AURA also serves its own read-only status interface for outside observers. Safety rules allow one AURA-managed position, distinguish unrelated inventory, and stop under ambiguous execution or protection state. Current live entry protection remains unverified, so new live BUYs are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AURA combines bounded AI, deterministic trade safety and decision provenance. It is an MCP-native product: not a black-box strategy. The current safety posture is deliberate. New live entries remain blocked until exchange-side protection is verified end to end. The value is not trading more; it is making market decisions that can be examined and challenged.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75f7bbdd14b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44c90993943a6" /><Relationship Type="http://schemas.openxmlformats.org/officeDocument/2006/relationships/slideLayout" Target="/ppt/slideLayouts/slideLayout1.xml" Id="Rca03d5db5fc4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03d5db5fc4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f3aa4b89f405d" /><Relationship Type="http://schemas.openxmlformats.org/officeDocument/2006/relationships/notesSlide" Target="/ppt/notesSlides/notesSlide1.xml" Id="R61956cae50d1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ed4cd1d0e466f" /><Relationship Type="http://schemas.openxmlformats.org/officeDocument/2006/relationships/notesSlide" Target="/ppt/notesSlides/notesSlide2.xml" Id="Ra043c728089a49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50b7956754a10" /><Relationship Type="http://schemas.openxmlformats.org/officeDocument/2006/relationships/notesSlide" Target="/ppt/notesSlides/notesSlide3.xml" Id="Rb21c4a712fff4d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362bae8f84d77" /><Relationship Type="http://schemas.openxmlformats.org/officeDocument/2006/relationships/notesSlide" Target="/ppt/notesSlides/notesSlide4.xml" Id="Rd46012661a24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0988286c542cc" /><Relationship Type="http://schemas.openxmlformats.org/officeDocument/2006/relationships/notesSlide" Target="/ppt/notesSlides/notesSlide5.xml" Id="R60f9f666ff9b4b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EA24C-5DCC-4F75-9A12-0CEBF43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AURA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21522-7A91-42D5-9AB9-C4D2EE1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800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678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autonomous</a:t>
            </a:r>
          </a:p>
          <a:p xmlns:a="http://schemas.openxmlformats.org/drawingml/2006/main">
            <a:pPr algn="l">
              <a:def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trading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C73E7-C3A7-424C-9174-9627DE69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One risk budget across BTC-USDT and ETH-USDT.</a:t>
            </a:r>
          </a:p>
          <a:p xmlns:a="http://schemas.openxmlformats.org/drawingml/2006/main">
            <a:pPr algn="l">
              <a:def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Every action has an evidence trail and a hard risk veto.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06996-FB48-4CBB-AF0C-D66C2BD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2596D-14E9-45A6-9C9A-1410DB17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5ECC8-9C6D-42B0-802E-8128F1C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F5A39-CA9E-40BC-8483-5B304067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BTC-USDT  /  ETH-USDT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E707E-1237-4F39-99C2-86371A6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01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118B-3442-4DF2-89DC-9C1BE24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338BF-ED5E-4D93-B409-600EE32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CRITIQUE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62E59-05D6-427F-AE98-E85D4FA4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Bounded Market Critic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C1B6C-813B-4785-AF09-D38D336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01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2393-CC2A-41F4-8712-6989CE3A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81A14-19FC-4909-9A7C-4695BE0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DAC27-74E7-4BC1-AE56-678EA418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Deterministic Risk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6EA29-C456-4A51-BC71-7805CA6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AI can reason; it cannot directly move capital.</a:t>
            </a:r>
          </a:p>
        </p:txBody>
      </p:sp>
    </p:spTree>
    <p:extLst>
      <p:ext uri="{BB962C8B-B14F-4D97-AF65-F5344CB8AC3E}">
        <p14:creationId xmlns:p14="http://schemas.microsoft.com/office/powerpoint/2010/main" val="470012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836027-505E-47FC-BB85-8C5D57F5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02  /  DECISION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570C4-51B2-47C1-BADA-07ABC5E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From market evidence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737A-963C-4235-BCC4-F4BC409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 single opportunity is considered; each step can stop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B032-A36A-4F37-BAB4-7B67C2E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CBEB-2301-4F73-8918-199E8A0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2F608-6B52-4B3E-9EA1-6B26340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2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1F546-9C10-4B28-82E9-8274C57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89EC4-B281-4EF6-AE07-F68A2D4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48994-7D53-4397-9DDC-631858B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OKX ATK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9B760-0EA6-4D84-B36B-386D4BC0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Market, account and spot reads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1444C-D568-45E4-9F44-5C26C4D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EF048-D2B8-422D-B982-39C5289E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20178-9826-435D-A7B0-B7AAECB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3D95E-605F-4314-A355-A848D330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FEATURES + REGIME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8DEB6-5E3D-4D17-A9B4-47414667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EMA · ATR · ADX · spread · OBI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8FF51-D3C9-4363-AAFD-2F06EB6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EB3C1-4D7D-44F7-8098-202592ED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92FCB-33D3-4ACE-99BC-52DC69B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CC77F-127A-4AFB-B35A-F08EBCD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OPPORTUNITY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8827B-959E-42B0-9141-874A6000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Compare BTC and ETH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7560E-C569-41E3-9EC6-85D3E13B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E6006-F30F-4177-B93C-A302875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D4D0F-67FB-4EC1-8249-4BFD9EB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2952F-8FEF-4D67-A1E2-B4539096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MARKET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5E184-19BC-4273-8C83-F8443DCF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Challenge the selected 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E2BC2-D61A-49E8-AB57-C00BEA1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9525">
            <a:solidFill>
              <a:srgbClr val="4774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6B31D-99A6-413C-A7C8-141628B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EBAE9-E3B3-4491-BBF3-81FEF31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78A20-DC2C-43DC-A731-CD1C85F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Hard veto and position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EE314-87E4-43F9-A607-5686EEF7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EC5EE-F6D1-48C6-8D0B-6FE5D8AB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79190-6A51-4097-B49E-7DA84C5A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8958E-937B-4A8B-8F5F-4E6B333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MCP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1BFB0-B49B-4D74-BA15-4B6552B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ExecutionEngine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D1185-32AD-4D1D-8239-60ADC7A9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BF660F-5CA6-4F72-9DAE-5EC52511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A627A-5367-4F2C-9823-DB908909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7A7368-EB27-46D3-8D26-C8ABF1AE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PROTECTION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E7A79C-9E29-4961-8A1B-805AD84E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Verify or fall back safely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4713A6-264C-4248-ADE7-0E1B43F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165E75-D16E-4788-9155-959ADB3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7BA429-AF91-415A-8A72-A7822AA1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61D90A-CEDF-468A-98D2-38876FA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FABB38-B4F6-40ED-935A-3409DD5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Never guess after ambiguity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A9ACE7-C633-4414-88BA-7F95D5EA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10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26C352-1F7F-401C-A8FF-70F62C1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LLM critiques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DED494-A51A-405B-ACF4-FBCBFC25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864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Risk Engine vetoes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4DC0C3-9BB1-4865-A9E2-435833D5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8642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Provenance explains</a:t>
            </a:r>
          </a:p>
        </p:txBody>
      </p:sp>
    </p:spTree>
    <p:extLst>
      <p:ext uri="{BB962C8B-B14F-4D97-AF65-F5344CB8AC3E}">
        <p14:creationId xmlns:p14="http://schemas.microsoft.com/office/powerpoint/2010/main" val="607445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813A31-62DF-4545-BED6-48FAF8E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  /  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CB21B-DE2F-41F7-83E4-12B75FD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The decision desk, without a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573B1-000C-4022-A128-63925FD5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Representative observe-only view · no fabricated prices, fills or PnL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9DAA2-85CE-496E-BDA6-08338E5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85900"/>
            <a:ext cx="112966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8166-D34F-4BBA-AF89-D20142F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✳  AURA  /  INTELLIGENCE 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5152D-E7B2-491B-9579-145B1A1A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266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0EB88-8666-483B-8DCE-9C8F3490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638300"/>
            <a:ext cx="1076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OBSERVE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9B80-2E8B-4F1C-A5D7-D03A659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10572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838D7-38F1-40EF-9FE8-7708734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86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READ 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EC1C-1023-48E5-A051-A45A0D4E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19250"/>
            <a:ext cx="14192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780A2-2B08-4E4D-AEF0-70BF5A30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3830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STATUS MCP 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C7FE6-77F4-4CAC-B277-6E9C21A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10925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C9906-CB2C-492E-8803-484BBA1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OPPORTUNITY 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69247-1B6C-45C0-9420-CFA73703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683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position maximum · BTC and ETH compared each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EBD51-3713-49C6-98A1-6391576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371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AE279-494F-4F27-8758-B85FF93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05100"/>
            <a:ext cx="3371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85D71-4CEB-4526-B2B6-D2B4517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03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BTC-USDT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B9E32-41DB-47ED-86EB-4B6A811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809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5ADDC-146A-49B9-8D9F-77FD74C6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479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WAITING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C0375-222D-419E-9973-5F3CBD54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eligible setup published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40133-9CDB-4489-8191-BCA7AEF2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ETH-USDT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B0C1D-81F2-4636-977F-28F0F99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09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899F-C30D-4383-BC2C-8D08991A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479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WAITING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21C81-5461-4891-B3A1-B319D9F1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eligible setup published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EB00A-036B-4D41-88C0-F83485A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685800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8F6E9-C98C-4DC4-B41B-817CA5F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DECISION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AA5F6-680E-4E76-8AAC-E666562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45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  →  Features  →  Ranking  →  Critic  →  Risk  → 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B3ABF-E624-47E5-9745-FCA37EE2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completed cycle · every stage is recorded once published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AD538-620B-4C44-96CA-FB17D7C0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685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44CC9-7627-4EDF-AACB-BAD5CEC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ATK MCP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C1B89-DF01-4CFC-906A-5061D45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  market_get_ticker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B6835-15B5-45A4-9692-2CAD1EE7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  spot_get_fills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1DB8B-F824-4E67-B693-C213D56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863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rPr>
              <a:t>WRITE  no order call in this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D2940-3938-4A3E-BBD3-11D29A29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5626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Independent stdio lanes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7F21FF-7DD5-446C-B9DA-2D4EDDEF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43125"/>
            <a:ext cx="3857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5E3516-6297-4EDB-80BF-0639B56A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574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MARKET CRITIC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F44C1E-C658-40DD-939C-AF7B24C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43175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Awaiting selected setup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A37DA0-4262-487D-8005-4288118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3370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Counter-thesis appears before risk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D7FA3-9F78-4826-B14A-8EC021F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3857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C8A08-89BC-4ACF-8D64-70CACDC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079257-B998-4C31-BE51-3020869C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48100"/>
            <a:ext cx="3400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29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rPr>
              <a:t>HOLD  /  NO PROPOSAL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5FAFAB-AE83-48A5-828C-A35A2C6F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91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authorization → no execution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43BA8-CE40-4BF5-861A-DE25F9A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72000"/>
            <a:ext cx="385762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094306-79B6-4D78-8200-BBD7BD46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4820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POSITION / PROTECTION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04285C-D11F-4B2F-AF47-AF87BFB1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244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FLAT  ·  no AURA-managed position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F5A3EC-4F47-4D0A-9C88-0547FE5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3857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769B02-6437-498B-B93F-2702E28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38775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ASK AURA  /  STATUS MCP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39C7A-48A3-43DC-AE89-B7E2F0C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686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“Why no trade?”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7418E8-C975-4162-B387-85EBDF8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924550"/>
            <a:ext cx="3362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qualifying setup or risk approval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853E33-0CAA-47DA-A0F0-FDF4245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STATIC PRODUCT VIEW  ·  MODULES AND STATES ARE REPRESENTATIVE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F482B-710E-4987-9309-8E4353D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1886458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8D208-AEBE-4ADF-9DD0-67C7946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04  /  MCP +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5B62-2661-4A71-B31F-2446856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Separate authority, visible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F5B0C-DAEA-4F52-B9C2-4E3C580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is an OKX ATK client and also exposes a read-only Status MCP.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BC7B-2FC3-411A-91B8-4DE0D65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B0403-F744-42F9-A547-B45B2AC5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18979-138B-4CEC-8A6E-605D462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24A66-3DD4-4E9D-ADE8-7122D59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3248025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2CA4F-88BE-4F59-8B52-087F952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READ MCP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82349-04A3-4057-A1D9-6D1CC6C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market  ·  account  ·  spot reads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C5ACC-D4C1-4EC8-9ECE-1D36B19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B104D-2462-4758-8E11-F54FBF3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SERVER-LEVEL READ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E6BB-387F-4C00-9A2C-C25D9A2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Market evidence and exchange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D71CD-3EE2-41CE-A165-D1F1D08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575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FE481-35C3-4C2D-A467-8F65F52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3248025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C2F72-BA47-409D-8577-E11D6106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2781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03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ED01F-F6A2-48A9-A699-6F3B2D1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733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Features  →  Critic  → 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910D7-F660-4D2A-BFE5-7E4351AE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52775"/>
            <a:ext cx="2819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2D6BF-6FCC-431F-8839-69A797B9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38500"/>
            <a:ext cx="2619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5F189-1FCB-4349-959E-77B190C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052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Final execution veto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175D7-1A25-4AA1-89D1-99A8119E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19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575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6C9C7-32B0-434E-8CDB-924FBE3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81175"/>
            <a:ext cx="3219450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FB538-937E-4D79-972C-AB7A1B5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WRITE MCP PROCESS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7EC92-3234-4D8D-913E-51DB51EB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479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spot execution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13BB2-84C3-4B17-B34D-4278B4E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38475"/>
            <a:ext cx="2419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EF4F7-5D59-415C-AB1F-36B3AF7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575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EXECUTIONENGINE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3198A-B4D3-4257-A625-E3E1BD67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147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No LLM write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76DDF-8DB8-4C11-9769-E9A868EE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1010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23089-09A9-4E74-A75B-81EF1686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ONE MANAGED 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2A7359-F35D-4F69-B588-6FBE84D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81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NO BLIND RETRY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845A2-7C29-4CE9-92D1-F15E9904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81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AMBIGUITY → RECONCILE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C7830-AC6B-420E-8081-98CE60F2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45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Unmanaged wallet inventory stays separate. An LLM outage blocks entries; open-position rules remain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709822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7863A-5C0C-4CAA-877D-1911333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05  /  WHY AURA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FCD40-33F0-4D5E-A682-D9E5225E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autonomy with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A732D-1C98-40E8-BF32-5AFE7C74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 trading agent earns trust by explaining the trades it refuses.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39E2E-4B5E-4091-8D61-25D86AC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F90F3-2A59-462E-8AFD-27831AD4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833DA-E1D4-4C12-AB08-BFFF89C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5354-B62A-45E2-B308-0250BC1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0E8C-36BD-4E9F-BCA1-58BB9A1F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49D89-0903-488F-AD2D-B77DAE21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BOUNDED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A20EC-3797-499C-8D06-2F7105E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The LLM challenges a thesis.</a:t>
            </a:r>
          </a:p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It never owns trading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CF1-0F78-40FD-AB2F-A97ECDC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E9802-4398-4A3A-B9A5-E70A9A5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3158D-1ECA-485C-B935-0EA9DA36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7ACD1-65F4-40E7-94EB-F44CCE6D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Hard risk rules decide whether</a:t>
            </a:r>
          </a:p>
          <a:p xmlns:a="http://schemas.openxmlformats.org/drawingml/2006/main">
            <a:pPr algn="l">
              <a:def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capital can be deployed.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2D603-EC78-48B4-B83C-BB135E54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B57E6-DD05-48A3-B1DD-419AC755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27C2F-A316-42A5-986D-E50B1A3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9C1C1-8FAD-499C-B202-864B443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Evidence, rejections and MCP calls</a:t>
            </a:r>
          </a:p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remain inspectable.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394C5-C593-4D0E-8821-F891157F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CB993-6CC0-4354-BA50-B96F1BA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BTC + ETH  ·  OKX ATK MCP  ·  Risk Certificate  ·  Decision Provenance  ·  Read/Write isolation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9369D-7C4C-48D9-A8F0-C95F862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AURA is designed to know when to trade, when not to trade,</a:t>
            </a:r>
          </a:p>
          <a:p xmlns:a="http://schemas.openxmlformats.org/drawingml/2006/main">
            <a:pPr algn="l">
              <a:def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and to explain both.</a:t>
            </a:r>
          </a:p>
        </p:txBody>
      </p:sp>
    </p:spTree>
    <p:extLst>
      <p:ext uri="{BB962C8B-B14F-4D97-AF65-F5344CB8AC3E}">
        <p14:creationId xmlns:p14="http://schemas.microsoft.com/office/powerpoint/2010/main" val="1772701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2026-09-12T15:03:28.3590000Z</dcterms:created>
  <dcterms:modified xsi:type="dcterms:W3CDTF">2026-09-12T15:03:28.3590000Z</dcterms:modified>
</coreProperties>
</file>